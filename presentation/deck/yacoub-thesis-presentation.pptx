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82be737b5047f4" /><Relationship Type="http://schemas.openxmlformats.org/officeDocument/2006/relationships/extended-properties" Target="/docProps/app.xml" Id="R882e82fd847446b0" /><Relationship Type="http://schemas.openxmlformats.org/officeDocument/2006/relationships/officeDocument" Target="/ppt/presentation.xml" Id="R68bc251bf0f145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7340a40024558"/>
  </p:sldMasterIdLst>
  <p:notesMasterIdLst>
    <p:notesMasterId xmlns:r="http://schemas.openxmlformats.org/officeDocument/2006/relationships" r:id="R04505bb29d6e41dc"/>
  </p:notesMasterIdLst>
  <p:sldIdLst>
    <p:sldId xmlns:r="http://schemas.openxmlformats.org/officeDocument/2006/relationships" id="256" r:id="R29fb451cb17c46ad"/>
    <p:sldId xmlns:r="http://schemas.openxmlformats.org/officeDocument/2006/relationships" id="257" r:id="R12d81a32311e4b08"/>
    <p:sldId xmlns:r="http://schemas.openxmlformats.org/officeDocument/2006/relationships" id="258" r:id="R1eb472fe05544f8c"/>
    <p:sldId xmlns:r="http://schemas.openxmlformats.org/officeDocument/2006/relationships" id="259" r:id="R7e80eda208b24ac5"/>
    <p:sldId xmlns:r="http://schemas.openxmlformats.org/officeDocument/2006/relationships" id="260" r:id="R5535a645879e452c"/>
    <p:sldId xmlns:r="http://schemas.openxmlformats.org/officeDocument/2006/relationships" id="261" r:id="R5a735f16c8de4906"/>
    <p:sldId xmlns:r="http://schemas.openxmlformats.org/officeDocument/2006/relationships" id="262" r:id="R24919b23e9844e1a"/>
    <p:sldId xmlns:r="http://schemas.openxmlformats.org/officeDocument/2006/relationships" id="263" r:id="Ra23a3a355be84bf6"/>
    <p:sldId xmlns:r="http://schemas.openxmlformats.org/officeDocument/2006/relationships" id="264" r:id="R1fe319e55df04c61"/>
    <p:sldId xmlns:r="http://schemas.openxmlformats.org/officeDocument/2006/relationships" id="265" r:id="R047f3346733e422e"/>
    <p:sldId xmlns:r="http://schemas.openxmlformats.org/officeDocument/2006/relationships" id="266" r:id="Rd414c76eead54dca"/>
    <p:sldId xmlns:r="http://schemas.openxmlformats.org/officeDocument/2006/relationships" id="267" r:id="Re52ec3b5f8f747e8"/>
    <p:sldId xmlns:r="http://schemas.openxmlformats.org/officeDocument/2006/relationships" id="268" r:id="R380efe6acb354065"/>
    <p:sldId xmlns:r="http://schemas.openxmlformats.org/officeDocument/2006/relationships" id="269" r:id="R9ceb276ee3c842f3"/>
    <p:sldId xmlns:r="http://schemas.openxmlformats.org/officeDocument/2006/relationships" id="270" r:id="R987365fef517425f"/>
    <p:sldId xmlns:r="http://schemas.openxmlformats.org/officeDocument/2006/relationships" id="271" r:id="Rf0a16ab0ba2f46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3f365af0144268" /><Relationship Type="http://schemas.openxmlformats.org/officeDocument/2006/relationships/slideMaster" Target="/ppt/slideMasters/slideMaster1.xml" Id="R9867340a40024558" /><Relationship Type="http://schemas.openxmlformats.org/officeDocument/2006/relationships/notesMaster" Target="/ppt/notesMasters/notesMaster1.xml" Id="R04505bb29d6e41dc" /><Relationship Type="http://schemas.openxmlformats.org/officeDocument/2006/relationships/presProps" Target="/ppt/presProps.xml" Id="R1474918a9d41439a" /><Relationship Type="http://schemas.openxmlformats.org/officeDocument/2006/relationships/viewProps" Target="/ppt/viewProps.xml" Id="R6c91d9680d364201" /><Relationship Type="http://schemas.openxmlformats.org/officeDocument/2006/relationships/tableStyles" Target="/ppt/tableStyles.xml" Id="Rb73080055aab47e2" /><Relationship Type="http://schemas.openxmlformats.org/officeDocument/2006/relationships/slide" Target="/ppt/slides/slide1.xml" Id="R29fb451cb17c46ad" /><Relationship Type="http://schemas.openxmlformats.org/officeDocument/2006/relationships/slide" Target="/ppt/slides/slide2.xml" Id="R12d81a32311e4b08" /><Relationship Type="http://schemas.openxmlformats.org/officeDocument/2006/relationships/slide" Target="/ppt/slides/slide3.xml" Id="R1eb472fe05544f8c" /><Relationship Type="http://schemas.openxmlformats.org/officeDocument/2006/relationships/slide" Target="/ppt/slides/slide4.xml" Id="R7e80eda208b24ac5" /><Relationship Type="http://schemas.openxmlformats.org/officeDocument/2006/relationships/slide" Target="/ppt/slides/slide5.xml" Id="R5535a645879e452c" /><Relationship Type="http://schemas.openxmlformats.org/officeDocument/2006/relationships/slide" Target="/ppt/slides/slide6.xml" Id="R5a735f16c8de4906" /><Relationship Type="http://schemas.openxmlformats.org/officeDocument/2006/relationships/slide" Target="/ppt/slides/slide7.xml" Id="R24919b23e9844e1a" /><Relationship Type="http://schemas.openxmlformats.org/officeDocument/2006/relationships/slide" Target="/ppt/slides/slide8.xml" Id="Ra23a3a355be84bf6" /><Relationship Type="http://schemas.openxmlformats.org/officeDocument/2006/relationships/slide" Target="/ppt/slides/slide9.xml" Id="R1fe319e55df04c61" /><Relationship Type="http://schemas.openxmlformats.org/officeDocument/2006/relationships/slide" Target="/ppt/slides/slide10.xml" Id="R047f3346733e422e" /><Relationship Type="http://schemas.openxmlformats.org/officeDocument/2006/relationships/slide" Target="/ppt/slides/slide11.xml" Id="Rd414c76eead54dca" /><Relationship Type="http://schemas.openxmlformats.org/officeDocument/2006/relationships/slide" Target="/ppt/slides/slide12.xml" Id="Re52ec3b5f8f747e8" /><Relationship Type="http://schemas.openxmlformats.org/officeDocument/2006/relationships/slide" Target="/ppt/slides/slide13.xml" Id="R380efe6acb354065" /><Relationship Type="http://schemas.openxmlformats.org/officeDocument/2006/relationships/slide" Target="/ppt/slides/slide14.xml" Id="R9ceb276ee3c842f3" /><Relationship Type="http://schemas.openxmlformats.org/officeDocument/2006/relationships/slide" Target="/ppt/slides/slide15.xml" Id="R987365fef517425f" /><Relationship Type="http://schemas.openxmlformats.org/officeDocument/2006/relationships/slide" Target="/ppt/slides/slide16.xml" Id="Rf0a16ab0ba2f46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907ac07f574c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Mittuniversitetet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CB9"/>
      </a:accent1>
      <a:accent2>
        <a:srgbClr val="00BFD6"/>
      </a:accent2>
      <a:accent3>
        <a:srgbClr val="007934"/>
      </a:accent3>
      <a:accent4>
        <a:srgbClr val="3FAE2A"/>
      </a:accent4>
      <a:accent5>
        <a:srgbClr val="706259"/>
      </a:accent5>
      <a:accent6>
        <a:srgbClr val="AEA299"/>
      </a:accent6>
      <a:hlink>
        <a:srgbClr val="0563C1"/>
      </a:hlink>
      <a:folHlink>
        <a:srgbClr val="954F72"/>
      </a:folHlink>
    </a:clrScheme>
    <a:fontScheme name="PP Mittuniversitet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ittuniversitete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73c90902a64e60" /><Relationship Type="http://schemas.openxmlformats.org/officeDocument/2006/relationships/notesMaster" Target="/ppt/notesMasters/notesMaster1.xml" Id="R24ab7b355eb443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6e4f324e4a4ebc" /><Relationship Type="http://schemas.openxmlformats.org/officeDocument/2006/relationships/notesMaster" Target="/ppt/notesMasters/notesMaster1.xml" Id="R8c177854a69944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f7bdca683147c5" /><Relationship Type="http://schemas.openxmlformats.org/officeDocument/2006/relationships/notesMaster" Target="/ppt/notesMasters/notesMaster1.xml" Id="Rb9fe8168ecba4c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7ced2a932540c8" /><Relationship Type="http://schemas.openxmlformats.org/officeDocument/2006/relationships/notesMaster" Target="/ppt/notesMasters/notesMaster1.xml" Id="R0efa910db7cf42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53c9ae86ab423a" /><Relationship Type="http://schemas.openxmlformats.org/officeDocument/2006/relationships/notesMaster" Target="/ppt/notesMasters/notesMaster1.xml" Id="R294a2ecd1cdd46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bad063f25549d5" /><Relationship Type="http://schemas.openxmlformats.org/officeDocument/2006/relationships/notesMaster" Target="/ppt/notesMasters/notesMaster1.xml" Id="R03229280d74148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740603f6124c99" /><Relationship Type="http://schemas.openxmlformats.org/officeDocument/2006/relationships/notesMaster" Target="/ppt/notesMasters/notesMaster1.xml" Id="Rafecb418316449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c8d60e2979461b" /><Relationship Type="http://schemas.openxmlformats.org/officeDocument/2006/relationships/notesMaster" Target="/ppt/notesMasters/notesMaster1.xml" Id="R35789935bfdc4e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32829e08fa4b98" /><Relationship Type="http://schemas.openxmlformats.org/officeDocument/2006/relationships/notesMaster" Target="/ppt/notesMasters/notesMaster1.xml" Id="Re36048d15b394e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53244a384d4639" /><Relationship Type="http://schemas.openxmlformats.org/officeDocument/2006/relationships/notesMaster" Target="/ppt/notesMasters/notesMaster1.xml" Id="Ra8d8d29b96e041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2434a492d74e6a" /><Relationship Type="http://schemas.openxmlformats.org/officeDocument/2006/relationships/notesMaster" Target="/ppt/notesMasters/notesMaster1.xml" Id="R6b5596b6ebd845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0c8ae8c4414010" /><Relationship Type="http://schemas.openxmlformats.org/officeDocument/2006/relationships/notesMaster" Target="/ppt/notesMasters/notesMaster1.xml" Id="Rf8ca214d41e0437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67ff9abb274a7c" /><Relationship Type="http://schemas.openxmlformats.org/officeDocument/2006/relationships/notesMaster" Target="/ppt/notesMasters/notesMaster1.xml" Id="Raec0d4ae610142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12622741324305" /><Relationship Type="http://schemas.openxmlformats.org/officeDocument/2006/relationships/notesMaster" Target="/ppt/notesMasters/notesMaster1.xml" Id="R5f0d53b3e083436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62937add8a45e8" /><Relationship Type="http://schemas.openxmlformats.org/officeDocument/2006/relationships/notesMaster" Target="/ppt/notesMasters/notesMaster1.xml" Id="Rc0362098c69e42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4db2cac6c34ab0" /><Relationship Type="http://schemas.openxmlformats.org/officeDocument/2006/relationships/notesMaster" Target="/ppt/notesMasters/notesMaster1.xml" Id="R7e092506bbfc4d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7d404de48244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9665363164b77" /><Relationship Type="http://schemas.openxmlformats.org/officeDocument/2006/relationships/image" Target="/ppt/media/image.png" Id="Rfc6a3ba8d45d40f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655e3b4c4e45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02431dfd0b42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d75261e5fd4b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38dbb84b348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a4468e673498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d2e7b95df94d7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c7f0976d947d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6e70990184ee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840ffdb4b9420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1600a69fc49f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90dd31fd5b46f9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C8AEB428-497F-4520-9047-DB01C642AA61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522199" y="1360800"/>
            <a:ext cx="9831600" cy="691957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3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Stor rubrik</a:t>
            </a:r>
          </a:p>
        </p:txBody>
      </p:sp>
      <p:sp>
        <p:nvSpPr>
          <p:cNvPr id="3" name="Underrubrik 2">
            <a:extLst xmlns:a="http://schemas.openxmlformats.org/drawingml/2006/main">
              <a:ext uri="{FF2B5EF4-FFF2-40B4-BE49-F238E27FC236}">
                <a16:creationId xmlns:a16="http://schemas.microsoft.com/office/drawing/2014/main" id="{9BB8C05E-56CF-4D21-BB12-9A38CC23BE96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2199" y="2208554"/>
            <a:ext cx="9831601" cy="78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200" b="1">
                <a:solidFill>
                  <a:schemeClr val="accent1"/>
                </a:solidFill>
                <a:latin typeface="+mj-lt"/>
                <a:ea typeface="+mj-lt"/>
                <a:cs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Underrubrik</a:t>
            </a:r>
          </a:p>
        </p:txBody>
      </p:sp>
      <p:sp>
        <p:nvSpPr>
          <p:cNvPr id="5" name="Platshållare för sidfot 4">
            <a:extLst xmlns:a="http://schemas.openxmlformats.org/drawingml/2006/main">
              <a:ext uri="{FF2B5EF4-FFF2-40B4-BE49-F238E27FC236}">
                <a16:creationId xmlns:a16="http://schemas.microsoft.com/office/drawing/2014/main" id="{4284F97B-5DB1-459E-8DB3-0A72CDE021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Platshållare för datum 3">
            <a:extLst xmlns:a="http://schemas.openxmlformats.org/drawingml/2006/main">
              <a:ext uri="{FF2B5EF4-FFF2-40B4-BE49-F238E27FC236}">
                <a16:creationId xmlns:a16="http://schemas.microsoft.com/office/drawing/2014/main" id="{D925D361-6573-4964-946F-0D05105CCC9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6" name="Platshållare för bildnummer 5">
            <a:extLst xmlns:a="http://schemas.openxmlformats.org/drawingml/2006/main">
              <a:ext uri="{FF2B5EF4-FFF2-40B4-BE49-F238E27FC236}">
                <a16:creationId xmlns:a16="http://schemas.microsoft.com/office/drawing/2014/main" id="{616FEFF1-3AEF-4EDB-A6DB-4C6010663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0" preserve="1" userDrawn="1">
  <p:cSld name="Rubrik med 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ubrik 2">
            <a:extLst xmlns:a="http://schemas.openxmlformats.org/drawingml/2006/main">
              <a:ext uri="{FF2B5EF4-FFF2-40B4-BE49-F238E27FC236}">
                <a16:creationId xmlns:a16="http://schemas.microsoft.com/office/drawing/2014/main" id="{F9C4BB8A-8D65-43D2-8EFD-A9708182497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24000" y="1360799"/>
            <a:ext cx="9829801" cy="6912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800"/>
            </a:lvl1pPr>
          </a:lstStyle>
          <a:p xmlns:a="http://schemas.openxmlformats.org/drawingml/2006/main">
            <a:r>
              <a:t>Stor rubrik </a:t>
            </a:r>
          </a:p>
        </p:txBody>
      </p:sp>
      <p:sp>
        <p:nvSpPr>
          <p:cNvPr id="6" name="Underrubrik 2">
            <a:extLst xmlns:a="http://schemas.openxmlformats.org/drawingml/2006/main">
              <a:ext uri="{FF2B5EF4-FFF2-40B4-BE49-F238E27FC236}">
                <a16:creationId xmlns:a16="http://schemas.microsoft.com/office/drawing/2014/main" id="{74A001C9-7849-4281-8AE8-102D8B129708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4000" y="2208554"/>
            <a:ext cx="9829800" cy="78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Underrubrik</a:t>
            </a:r>
          </a:p>
        </p:txBody>
      </p:sp>
      <p:sp>
        <p:nvSpPr>
          <p:cNvPr id="9" name="Platshållare för bild 8">
            <a:extLst xmlns:a="http://schemas.openxmlformats.org/drawingml/2006/main">
              <a:ext uri="{FF2B5EF4-FFF2-40B4-BE49-F238E27FC236}">
                <a16:creationId xmlns:a16="http://schemas.microsoft.com/office/drawing/2014/main" id="{9A8B5EED-4422-46B1-9E06-6FCBCA51BB81}"/>
              </a:ext>
            </a:extLst>
          </p:cNvPr>
          <p:cNvSpPr>
            <a:spLocks xmlns:a="http://schemas.openxmlformats.org/drawingml/2006/main" noGrp="1"/>
          </p:cNvSpPr>
          <p:nvPr>
            <p:ph type="pic" idx="13"/>
          </p:nvPr>
        </p:nvSpPr>
        <p:spPr>
          <a:xfrm xmlns:a="http://schemas.openxmlformats.org/drawingml/2006/main">
            <a:off x="0" y="3438000"/>
            <a:ext cx="12192000" cy="3420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på ikonen för att lägga till en bild</a:t>
            </a:r>
          </a:p>
        </p:txBody>
      </p:sp>
      <p:pic>
        <p:nvPicPr>
          <p:cNvPr id="10" name="107192D2-3778-4ECE-8BEC-1F42874D3F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a3ba8d45d40f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80000" y="360000"/>
            <a:ext cx="1565081" cy="72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preserve="1" userDrawn="1">
  <p:cSld name="Rubrik med platt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Rubrik 1">
            <a:extLst xmlns:a="http://schemas.openxmlformats.org/drawingml/2006/main">
              <a:ext uri="{FF2B5EF4-FFF2-40B4-BE49-F238E27FC236}">
                <a16:creationId xmlns:a16="http://schemas.microsoft.com/office/drawing/2014/main" id="{C4FDED42-0512-49CE-B1F9-A6574564EE76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524001" y="1359581"/>
            <a:ext cx="9829800" cy="691957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buNone/>
              <a:defRPr sz="3800" b="1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Stor rubrik</a:t>
            </a:r>
          </a:p>
        </p:txBody>
      </p:sp>
      <p:sp>
        <p:nvSpPr>
          <p:cNvPr id="6" name="Underrubrik 2">
            <a:extLst xmlns:a="http://schemas.openxmlformats.org/drawingml/2006/main">
              <a:ext uri="{FF2B5EF4-FFF2-40B4-BE49-F238E27FC236}">
                <a16:creationId xmlns:a16="http://schemas.microsoft.com/office/drawing/2014/main" id="{49FC2181-84DD-49DE-93FE-8BB374F52652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524001" y="2208554"/>
            <a:ext cx="9829799" cy="78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Underrubrik</a:t>
            </a:r>
          </a:p>
        </p:txBody>
      </p:sp>
      <p:sp>
        <p:nvSpPr>
          <p:cNvPr id="4" name="Rektangel 3">
            <a:extLst xmlns:a="http://schemas.openxmlformats.org/drawingml/2006/main">
              <a:ext uri="{FF2B5EF4-FFF2-40B4-BE49-F238E27FC236}">
                <a16:creationId xmlns:a16="http://schemas.microsoft.com/office/drawing/2014/main" id="{74D69D50-F87F-40B4-A5EC-E15B9BE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74720"/>
            <a:ext cx="12192000" cy="34200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1A651EB6-DB40-4158-89C9-D0B081AF5DC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838800" y="1540800"/>
            <a:ext cx="10550525" cy="65214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Mindre rubrik</a:t>
            </a:r>
          </a:p>
        </p:txBody>
      </p:sp>
      <p:sp>
        <p:nvSpPr>
          <p:cNvPr id="3" name="Platshållare för innehåll 2">
            <a:extLst xmlns:a="http://schemas.openxmlformats.org/drawingml/2006/main">
              <a:ext uri="{FF2B5EF4-FFF2-40B4-BE49-F238E27FC236}">
                <a16:creationId xmlns:a16="http://schemas.microsoft.com/office/drawing/2014/main" id="{5035157B-48E9-4D5C-9B92-FB7B92E6F4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800" y="2237129"/>
            <a:ext cx="10550525" cy="3836963"/>
          </a:xfr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5" name="Platshållare för sidfot 4">
            <a:extLst xmlns:a="http://schemas.openxmlformats.org/drawingml/2006/main">
              <a:ext uri="{FF2B5EF4-FFF2-40B4-BE49-F238E27FC236}">
                <a16:creationId xmlns:a16="http://schemas.microsoft.com/office/drawing/2014/main" id="{29DF5F99-A42C-47FB-AFC5-A4611E5CFE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Platshållare för datum 3">
            <a:extLst xmlns:a="http://schemas.openxmlformats.org/drawingml/2006/main">
              <a:ext uri="{FF2B5EF4-FFF2-40B4-BE49-F238E27FC236}">
                <a16:creationId xmlns:a16="http://schemas.microsoft.com/office/drawing/2014/main" id="{EDD7F398-2B74-45F2-B4E1-B8589B8A59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6" name="Platshållare för bildnummer 5">
            <a:extLst xmlns:a="http://schemas.openxmlformats.org/drawingml/2006/main">
              <a:ext uri="{FF2B5EF4-FFF2-40B4-BE49-F238E27FC236}">
                <a16:creationId xmlns:a16="http://schemas.microsoft.com/office/drawing/2014/main" id="{31B9CBF1-ED14-4DDE-8195-9ADD3F8C6D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8611BE49-0D68-4EA5-8DA1-6B1C80ECB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2800" y="3020400"/>
            <a:ext cx="9831600" cy="1117846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buNone/>
              <a:defRPr sz="3800"/>
            </a:lvl1pPr>
          </a:lstStyle>
          <a:p xmlns:a="http://schemas.openxmlformats.org/drawingml/2006/main">
            <a:r>
              <a:t>Klicka här för att ändra mall för rubrikformat</a:t>
            </a:r>
          </a:p>
        </p:txBody>
      </p:sp>
      <p:sp>
        <p:nvSpPr>
          <p:cNvPr id="3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FD51E103-87E8-4071-BB92-245A843D96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22800" y="4589464"/>
            <a:ext cx="9831600" cy="110795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</p:txBody>
      </p:sp>
      <p:sp>
        <p:nvSpPr>
          <p:cNvPr id="5" name="Platshållare för sidfot 4">
            <a:extLst xmlns:a="http://schemas.openxmlformats.org/drawingml/2006/main">
              <a:ext uri="{FF2B5EF4-FFF2-40B4-BE49-F238E27FC236}">
                <a16:creationId xmlns:a16="http://schemas.microsoft.com/office/drawing/2014/main" id="{98E0210A-6800-402E-A284-60AE505843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Platshållare för datum 3">
            <a:extLst xmlns:a="http://schemas.openxmlformats.org/drawingml/2006/main">
              <a:ext uri="{FF2B5EF4-FFF2-40B4-BE49-F238E27FC236}">
                <a16:creationId xmlns:a16="http://schemas.microsoft.com/office/drawing/2014/main" id="{D51F91C0-3D1B-4BC7-B97E-104B94DBEF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6" name="Platshållare för bildnummer 5">
            <a:extLst xmlns:a="http://schemas.openxmlformats.org/drawingml/2006/main">
              <a:ext uri="{FF2B5EF4-FFF2-40B4-BE49-F238E27FC236}">
                <a16:creationId xmlns:a16="http://schemas.microsoft.com/office/drawing/2014/main" id="{5140FE8C-4024-4B3A-AD86-99BE483F69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Rubrik med avsnit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ktangel 6">
            <a:extLst xmlns:a="http://schemas.openxmlformats.org/drawingml/2006/main">
              <a:ext uri="{FF2B5EF4-FFF2-40B4-BE49-F238E27FC236}">
                <a16:creationId xmlns:a16="http://schemas.microsoft.com/office/drawing/2014/main" id="{83A078B8-CE06-484B-BA22-A0955241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58000"/>
            <a:ext cx="12192000" cy="45000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84AC7D77-6CD4-44CE-B63C-558E21B4955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22800" y="3021178"/>
            <a:ext cx="9831600" cy="138237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3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Avsnittsrubrik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4DEA43F5-72E5-4E8D-98F0-224AA724B57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838800" y="1542415"/>
            <a:ext cx="10514999" cy="65214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Mindre rubrik</a:t>
            </a:r>
          </a:p>
        </p:txBody>
      </p:sp>
      <p:sp>
        <p:nvSpPr>
          <p:cNvPr id="3" name="Platshållare för innehåll 2">
            <a:extLst xmlns:a="http://schemas.openxmlformats.org/drawingml/2006/main">
              <a:ext uri="{FF2B5EF4-FFF2-40B4-BE49-F238E27FC236}">
                <a16:creationId xmlns:a16="http://schemas.microsoft.com/office/drawing/2014/main" id="{D53E4770-BBAF-456F-9618-591C013B93F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800" y="2234708"/>
            <a:ext cx="5180400" cy="3942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4" name="Platshållare för innehåll 3">
            <a:extLst xmlns:a="http://schemas.openxmlformats.org/drawingml/2006/main">
              <a:ext uri="{FF2B5EF4-FFF2-40B4-BE49-F238E27FC236}">
                <a16:creationId xmlns:a16="http://schemas.microsoft.com/office/drawing/2014/main" id="{80DBCE03-4F08-4819-8940-ED8A1D2CAD9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4000" y="2235600"/>
            <a:ext cx="5180400" cy="3942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6" name="Platshållare för sidfot 5">
            <a:extLst xmlns:a="http://schemas.openxmlformats.org/drawingml/2006/main">
              <a:ext uri="{FF2B5EF4-FFF2-40B4-BE49-F238E27FC236}">
                <a16:creationId xmlns:a16="http://schemas.microsoft.com/office/drawing/2014/main" id="{3638FA2A-B856-4642-95FB-59FC561E5C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Platshållare för datum 4">
            <a:extLst xmlns:a="http://schemas.openxmlformats.org/drawingml/2006/main">
              <a:ext uri="{FF2B5EF4-FFF2-40B4-BE49-F238E27FC236}">
                <a16:creationId xmlns:a16="http://schemas.microsoft.com/office/drawing/2014/main" id="{C79D0A5A-77E9-488E-8F5B-FDB237D5F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7" name="Platshållare för bildnummer 6">
            <a:extLst xmlns:a="http://schemas.openxmlformats.org/drawingml/2006/main">
              <a:ext uri="{FF2B5EF4-FFF2-40B4-BE49-F238E27FC236}">
                <a16:creationId xmlns:a16="http://schemas.microsoft.com/office/drawing/2014/main" id="{441170A0-7064-4D45-9756-C297D6BA44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Rubrik med bild och diagra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A48697F0-AFAD-4F32-8952-40706444E46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838800" y="1542415"/>
            <a:ext cx="10514999" cy="65214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Mindre rubrik</a:t>
            </a:r>
          </a:p>
        </p:txBody>
      </p:sp>
      <p:sp>
        <p:nvSpPr>
          <p:cNvPr id="3" name="Platshållare för innehåll 2">
            <a:extLst xmlns:a="http://schemas.openxmlformats.org/drawingml/2006/main">
              <a:ext uri="{FF2B5EF4-FFF2-40B4-BE49-F238E27FC236}">
                <a16:creationId xmlns:a16="http://schemas.microsoft.com/office/drawing/2014/main" id="{1EA852FC-830B-4AD1-AAF4-A4BD49D93C0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800" y="2234708"/>
            <a:ext cx="5180400" cy="3942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11" name="Platshållare för diagram 10">
            <a:extLst xmlns:a="http://schemas.openxmlformats.org/drawingml/2006/main">
              <a:ext uri="{FF2B5EF4-FFF2-40B4-BE49-F238E27FC236}">
                <a16:creationId xmlns:a16="http://schemas.microsoft.com/office/drawing/2014/main" id="{BE92A4DC-62C9-4AC5-8C96-DF373BECC8BD}"/>
              </a:ext>
            </a:extLst>
          </p:cNvPr>
          <p:cNvSpPr>
            <a:spLocks xmlns:a="http://schemas.openxmlformats.org/drawingml/2006/main" noGrp="1"/>
          </p:cNvSpPr>
          <p:nvPr>
            <p:ph type="chart" idx="13"/>
          </p:nvPr>
        </p:nvSpPr>
        <p:spPr>
          <a:xfrm xmlns:a="http://schemas.openxmlformats.org/drawingml/2006/main">
            <a:off x="6174000" y="2234963"/>
            <a:ext cx="5180400" cy="3942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på ikonen för att lägga till ett diagram</a:t>
            </a:r>
          </a:p>
        </p:txBody>
      </p:sp>
      <p:sp>
        <p:nvSpPr>
          <p:cNvPr id="5" name="Platshållare för sidfot 4">
            <a:extLst xmlns:a="http://schemas.openxmlformats.org/drawingml/2006/main">
              <a:ext uri="{FF2B5EF4-FFF2-40B4-BE49-F238E27FC236}">
                <a16:creationId xmlns:a16="http://schemas.microsoft.com/office/drawing/2014/main" id="{0246CBD1-0F24-41CC-B244-7CAD130977F0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Platshållare för datum 3">
            <a:extLst xmlns:a="http://schemas.openxmlformats.org/drawingml/2006/main">
              <a:ext uri="{FF2B5EF4-FFF2-40B4-BE49-F238E27FC236}">
                <a16:creationId xmlns:a16="http://schemas.microsoft.com/office/drawing/2014/main" id="{2EEA72DA-9D73-44C8-B230-F1953855A02B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6" name="Platshållare för bildnummer 5">
            <a:extLst xmlns:a="http://schemas.openxmlformats.org/drawingml/2006/main">
              <a:ext uri="{FF2B5EF4-FFF2-40B4-BE49-F238E27FC236}">
                <a16:creationId xmlns:a16="http://schemas.microsoft.com/office/drawing/2014/main" id="{6CB78F20-F9C3-4533-BAB4-18DCBEF7A669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Rubrik med bild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CC890CD7-19EF-4CCF-AEFF-C82F765F6EE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838800" y="1542415"/>
            <a:ext cx="10514999" cy="65214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Mindre rubrik</a:t>
            </a:r>
          </a:p>
        </p:txBody>
      </p:sp>
      <p:sp>
        <p:nvSpPr>
          <p:cNvPr id="11" name="Platshållare för text 10">
            <a:extLst xmlns:a="http://schemas.openxmlformats.org/drawingml/2006/main">
              <a:ext uri="{FF2B5EF4-FFF2-40B4-BE49-F238E27FC236}">
                <a16:creationId xmlns:a16="http://schemas.microsoft.com/office/drawing/2014/main" id="{D595D850-087F-4FBD-95D1-0EF9601B70CB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838800" y="2235599"/>
            <a:ext cx="5180400" cy="39420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Bildtext</a:t>
            </a:r>
          </a:p>
        </p:txBody>
      </p:sp>
      <p:sp>
        <p:nvSpPr>
          <p:cNvPr id="13" name="Platshållare för bild 12">
            <a:extLst xmlns:a="http://schemas.openxmlformats.org/drawingml/2006/main">
              <a:ext uri="{FF2B5EF4-FFF2-40B4-BE49-F238E27FC236}">
                <a16:creationId xmlns:a16="http://schemas.microsoft.com/office/drawing/2014/main" id="{C1DC36DF-3220-4E6B-B507-9A7FAB7D3703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6173999" y="2235599"/>
            <a:ext cx="5180400" cy="3942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på ikonen för att lägga till en bild</a:t>
            </a:r>
          </a:p>
        </p:txBody>
      </p:sp>
      <p:sp>
        <p:nvSpPr>
          <p:cNvPr id="4" name="Platshållare för sidfot 3">
            <a:extLst xmlns:a="http://schemas.openxmlformats.org/drawingml/2006/main">
              <a:ext uri="{FF2B5EF4-FFF2-40B4-BE49-F238E27FC236}">
                <a16:creationId xmlns:a16="http://schemas.microsoft.com/office/drawing/2014/main" id="{F7312DB6-1FB8-44BB-BBC5-A45011EE940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Platshållare för datum 2">
            <a:extLst xmlns:a="http://schemas.openxmlformats.org/drawingml/2006/main">
              <a:ext uri="{FF2B5EF4-FFF2-40B4-BE49-F238E27FC236}">
                <a16:creationId xmlns:a16="http://schemas.microsoft.com/office/drawing/2014/main" id="{5DF5B17B-EAED-4FF0-829D-90881BA69E6C}"/>
              </a:ext>
            </a:extLst>
          </p:cNvPr>
          <p:cNvSpPr>
            <a:spLocks xmlns:a="http://schemas.openxmlformats.org/drawingml/2006/main" noGrp="1"/>
          </p:cNvSpPr>
          <p:nvPr>
            <p:ph type="dt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5" name="Platshållare för bildnummer 4">
            <a:extLst xmlns:a="http://schemas.openxmlformats.org/drawingml/2006/main">
              <a:ext uri="{FF2B5EF4-FFF2-40B4-BE49-F238E27FC236}">
                <a16:creationId xmlns:a16="http://schemas.microsoft.com/office/drawing/2014/main" id="{E55A997B-C8FB-4EF7-B15D-752C957A753C}"/>
              </a:ext>
            </a:extLst>
          </p:cNvPr>
          <p:cNvSpPr>
            <a:spLocks xmlns:a="http://schemas.openxmlformats.org/drawingml/2006/main" noGrp="1"/>
          </p:cNvSpPr>
          <p:nvPr>
            <p:ph type="sldNum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Rubrik med två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86C2A25A-050F-42EF-84EB-26B3FCCE5B7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838800" y="1542415"/>
            <a:ext cx="10514999" cy="65214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Mindre rubrik</a:t>
            </a:r>
          </a:p>
        </p:txBody>
      </p:sp>
      <p:sp>
        <p:nvSpPr>
          <p:cNvPr id="13" name="Platshållare för bild 12">
            <a:extLst xmlns:a="http://schemas.openxmlformats.org/drawingml/2006/main">
              <a:ext uri="{FF2B5EF4-FFF2-40B4-BE49-F238E27FC236}">
                <a16:creationId xmlns:a16="http://schemas.microsoft.com/office/drawing/2014/main" id="{78C1AE22-782F-4D60-A67A-627E07AD5C78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6174000" y="2241462"/>
            <a:ext cx="5180400" cy="3942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på ikonen för att lägga till en bild</a:t>
            </a:r>
          </a:p>
        </p:txBody>
      </p:sp>
      <p:sp>
        <p:nvSpPr>
          <p:cNvPr id="8" name="Platshållare för bild 12">
            <a:extLst xmlns:a="http://schemas.openxmlformats.org/drawingml/2006/main">
              <a:ext uri="{FF2B5EF4-FFF2-40B4-BE49-F238E27FC236}">
                <a16:creationId xmlns:a16="http://schemas.microsoft.com/office/drawing/2014/main" id="{99794182-F9EC-4A53-B99D-299275EC2F94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838800" y="2235600"/>
            <a:ext cx="5180400" cy="3942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på ikonen för att lägga till en bild</a:t>
            </a:r>
          </a:p>
        </p:txBody>
      </p:sp>
      <p:sp>
        <p:nvSpPr>
          <p:cNvPr id="4" name="Platshållare för sidfot 3">
            <a:extLst xmlns:a="http://schemas.openxmlformats.org/drawingml/2006/main">
              <a:ext uri="{FF2B5EF4-FFF2-40B4-BE49-F238E27FC236}">
                <a16:creationId xmlns:a16="http://schemas.microsoft.com/office/drawing/2014/main" id="{9A533F3C-247C-4373-9ECD-9A45AE5B5366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Platshållare för datum 2">
            <a:extLst xmlns:a="http://schemas.openxmlformats.org/drawingml/2006/main">
              <a:ext uri="{FF2B5EF4-FFF2-40B4-BE49-F238E27FC236}">
                <a16:creationId xmlns:a16="http://schemas.microsoft.com/office/drawing/2014/main" id="{85789F75-50E8-479E-B0A3-D0A8E07E5047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5" name="Platshållare för bildnummer 4">
            <a:extLst xmlns:a="http://schemas.openxmlformats.org/drawingml/2006/main">
              <a:ext uri="{FF2B5EF4-FFF2-40B4-BE49-F238E27FC236}">
                <a16:creationId xmlns:a16="http://schemas.microsoft.com/office/drawing/2014/main" id="{1891E85D-8B0C-4310-9629-96DFA7043B30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C104B795-9C5A-4D66-842B-5449D748F4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800" y="1540800"/>
            <a:ext cx="10514999" cy="57429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</a:p>
        </p:txBody>
      </p:sp>
      <p:sp>
        <p:nvSpPr>
          <p:cNvPr id="3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B13607E8-45ED-42A3-8299-0C3FDEC21E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800" y="2235600"/>
            <a:ext cx="5157787" cy="82391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</p:txBody>
      </p:sp>
      <p:sp>
        <p:nvSpPr>
          <p:cNvPr id="4" name="Platshållare för innehåll 3">
            <a:extLst xmlns:a="http://schemas.openxmlformats.org/drawingml/2006/main">
              <a:ext uri="{FF2B5EF4-FFF2-40B4-BE49-F238E27FC236}">
                <a16:creationId xmlns:a16="http://schemas.microsoft.com/office/drawing/2014/main" id="{19872F75-009B-4CF8-B589-8DDB7F7EA62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8800" y="3180015"/>
            <a:ext cx="5158800" cy="30096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5" name="Platshållare för text 4">
            <a:extLst xmlns:a="http://schemas.openxmlformats.org/drawingml/2006/main">
              <a:ext uri="{FF2B5EF4-FFF2-40B4-BE49-F238E27FC236}">
                <a16:creationId xmlns:a16="http://schemas.microsoft.com/office/drawing/2014/main" id="{1585B8EB-09AC-414F-9BCC-41E887BEA7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4000" y="2235599"/>
            <a:ext cx="5158800" cy="823912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marL="0" indent="0"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</p:txBody>
      </p:sp>
      <p:sp>
        <p:nvSpPr>
          <p:cNvPr id="6" name="Platshållare för innehåll 5">
            <a:extLst xmlns:a="http://schemas.openxmlformats.org/drawingml/2006/main">
              <a:ext uri="{FF2B5EF4-FFF2-40B4-BE49-F238E27FC236}">
                <a16:creationId xmlns:a16="http://schemas.microsoft.com/office/drawing/2014/main" id="{8C5DB7B2-FEC3-4C9A-8FB9-8E094EAA3A2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4000" y="3180014"/>
            <a:ext cx="5158800" cy="300964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8" name="Platshållare för sidfot 7">
            <a:extLst xmlns:a="http://schemas.openxmlformats.org/drawingml/2006/main">
              <a:ext uri="{FF2B5EF4-FFF2-40B4-BE49-F238E27FC236}">
                <a16:creationId xmlns:a16="http://schemas.microsoft.com/office/drawing/2014/main" id="{7EAA41EF-A2A7-44FB-9836-9631D8DAD2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Platshållare för datum 6">
            <a:extLst xmlns:a="http://schemas.openxmlformats.org/drawingml/2006/main">
              <a:ext uri="{FF2B5EF4-FFF2-40B4-BE49-F238E27FC236}">
                <a16:creationId xmlns:a16="http://schemas.microsoft.com/office/drawing/2014/main" id="{64279937-9C85-4EAE-9C55-24F1A07759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9" name="Platshållare för bildnummer 8">
            <a:extLst xmlns:a="http://schemas.openxmlformats.org/drawingml/2006/main">
              <a:ext uri="{FF2B5EF4-FFF2-40B4-BE49-F238E27FC236}">
                <a16:creationId xmlns:a16="http://schemas.microsoft.com/office/drawing/2014/main" id="{7A91371D-6687-47DD-B7AF-D9BA17C9E8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brik 1">
            <a:extLst xmlns:a="http://schemas.openxmlformats.org/drawingml/2006/main">
              <a:ext uri="{FF2B5EF4-FFF2-40B4-BE49-F238E27FC236}">
                <a16:creationId xmlns:a16="http://schemas.microsoft.com/office/drawing/2014/main" id="{1B36659D-84C6-41BD-AC05-6390AA020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800" y="1540800"/>
            <a:ext cx="10528878" cy="73684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</a:p>
        </p:txBody>
      </p:sp>
      <p:sp>
        <p:nvSpPr>
          <p:cNvPr id="3" name="Platshållare för sidfot 2">
            <a:extLst xmlns:a="http://schemas.openxmlformats.org/drawingml/2006/main">
              <a:ext uri="{FF2B5EF4-FFF2-40B4-BE49-F238E27FC236}">
                <a16:creationId xmlns:a16="http://schemas.microsoft.com/office/drawing/2014/main" id="{AB3E1066-E84F-4B8F-BE99-E3D30241D7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Platshållare för datum 1">
            <a:extLst xmlns:a="http://schemas.openxmlformats.org/drawingml/2006/main">
              <a:ext uri="{FF2B5EF4-FFF2-40B4-BE49-F238E27FC236}">
                <a16:creationId xmlns:a16="http://schemas.microsoft.com/office/drawing/2014/main" id="{CFADF479-C533-4D68-BA25-FB9E9E7923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4" name="Platshållare för bildnummer 3">
            <a:extLst xmlns:a="http://schemas.openxmlformats.org/drawingml/2006/main">
              <a:ext uri="{FF2B5EF4-FFF2-40B4-BE49-F238E27FC236}">
                <a16:creationId xmlns:a16="http://schemas.microsoft.com/office/drawing/2014/main" id="{AC219CC4-212E-40A1-A4EC-A8675CE275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34427D-BC02-4BB6-9552-FEF7E6C4F2BF}" type="slidenum">
              <a:t>‹#›</a:t>
            </a:fld>
          </a:p>
        </p:txBody>
      </p:sp>
    </p:spTree>
  </p:cSld>
</p:sldLayout>
</file>

<file path=ppt/slideLayouts/slideLayout13.xml><?xml version="1.0" encoding="utf-8"?>
<p:sldLayout xmlns:p="http://schemas.openxmlformats.org/presentationml/2006/main" showMasterSp="0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4610fb2a8624cab" /><Relationship Type="http://schemas.openxmlformats.org/officeDocument/2006/relationships/theme" Target="/ppt/slideMasters/theme/theme2.xml" Id="R54d8a7c466854c88" /><Relationship Type="http://schemas.openxmlformats.org/officeDocument/2006/relationships/slideLayout" Target="/ppt/slideLayouts/slideLayout1.xml" Id="Rd953d93ce1594200" /><Relationship Type="http://schemas.openxmlformats.org/officeDocument/2006/relationships/slideLayout" Target="/ppt/slideLayouts/slideLayout2.xml" Id="R43159199347644b8" /><Relationship Type="http://schemas.openxmlformats.org/officeDocument/2006/relationships/slideLayout" Target="/ppt/slideLayouts/slideLayout3.xml" Id="Re70731daa0974919" /><Relationship Type="http://schemas.openxmlformats.org/officeDocument/2006/relationships/slideLayout" Target="/ppt/slideLayouts/slideLayout4.xml" Id="Rf9c0355ba63d4c5f" /><Relationship Type="http://schemas.openxmlformats.org/officeDocument/2006/relationships/slideLayout" Target="/ppt/slideLayouts/slideLayout5.xml" Id="Rbce9c9ef07ad475d" /><Relationship Type="http://schemas.openxmlformats.org/officeDocument/2006/relationships/slideLayout" Target="/ppt/slideLayouts/slideLayout6.xml" Id="Rca468e005e484e65" /><Relationship Type="http://schemas.openxmlformats.org/officeDocument/2006/relationships/slideLayout" Target="/ppt/slideLayouts/slideLayout7.xml" Id="R015028a8c94b45f4" /><Relationship Type="http://schemas.openxmlformats.org/officeDocument/2006/relationships/slideLayout" Target="/ppt/slideLayouts/slideLayout8.xml" Id="Rd89e34943e98477d" /><Relationship Type="http://schemas.openxmlformats.org/officeDocument/2006/relationships/slideLayout" Target="/ppt/slideLayouts/slideLayout9.xml" Id="R28031f4495d84ad4" /><Relationship Type="http://schemas.openxmlformats.org/officeDocument/2006/relationships/slideLayout" Target="/ppt/slideLayouts/slideLayout10.xml" Id="R828d9fb560494066" /><Relationship Type="http://schemas.openxmlformats.org/officeDocument/2006/relationships/slideLayout" Target="/ppt/slideLayouts/slideLayout11.xml" Id="R42cf4f37c5e742f5" /><Relationship Type="http://schemas.openxmlformats.org/officeDocument/2006/relationships/slideLayout" Target="/ppt/slideLayouts/slideLayout12.xml" Id="Rebc01fdab0e648a7" /><Relationship Type="http://schemas.openxmlformats.org/officeDocument/2006/relationships/slideLayout" Target="/ppt/slideLayouts/slideLayout13.xml" Id="Rfdc1166d676f49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tshållare för rubrik 1">
            <a:extLst xmlns:a="http://schemas.openxmlformats.org/drawingml/2006/main">
              <a:ext uri="{FF2B5EF4-FFF2-40B4-BE49-F238E27FC236}">
                <a16:creationId xmlns:a16="http://schemas.microsoft.com/office/drawing/2014/main" id="{715D419A-0EAB-4B6D-81FB-4061D3F7FB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1542415"/>
            <a:ext cx="9829799" cy="6521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r>
              <a:t>Klicka här för att ändra format</a:t>
            </a:r>
          </a:p>
        </p:txBody>
      </p:sp>
      <p:sp>
        <p:nvSpPr>
          <p:cNvPr id="3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E38EEBFC-9C6F-4C09-B825-60D87AFB84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24000" y="2237129"/>
            <a:ext cx="9829800" cy="3836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>
              <a:buNone/>
            </a:pPr>
            <a:r>
              <a:t>Nivå två</a:t>
            </a:r>
          </a:p>
          <a:p xmlns:a="http://schemas.openxmlformats.org/drawingml/2006/main">
            <a:pPr>
              <a:buNone/>
            </a:pPr>
            <a:r>
              <a:t>Nivå tre</a:t>
            </a:r>
          </a:p>
          <a:p xmlns:a="http://schemas.openxmlformats.org/drawingml/2006/main">
            <a:pPr>
              <a:buNone/>
            </a:pPr>
            <a:r>
              <a:t>Nivå fyra</a:t>
            </a:r>
          </a:p>
          <a:p xmlns:a="http://schemas.openxmlformats.org/drawingml/2006/main">
            <a:pPr>
              <a:buNone/>
            </a:pPr>
            <a:r>
              <a:t>Nivå fem</a:t>
            </a:r>
          </a:p>
        </p:txBody>
      </p:sp>
      <p:sp>
        <p:nvSpPr>
          <p:cNvPr id="8" name="textruta 7">
            <a:extLst xmlns:a="http://schemas.openxmlformats.org/drawingml/2006/main">
              <a:ext uri="{FF2B5EF4-FFF2-40B4-BE49-F238E27FC236}">
                <a16:creationId xmlns:a16="http://schemas.microsoft.com/office/drawing/2014/main" id="{3BEDE0AC-4473-464B-A3CA-1B627696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800" y="6356348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000" anchor="ctr">
            <a:noAutofit/>
          </a:bodyPr>
          <a:lstStyle xmlns:a="http://schemas.openxmlformats.org/drawingml/2006/main"/>
          <a:p xmlns:a="http://schemas.openxmlformats.org/drawingml/2006/main">
            <a:r>
              <a:rPr sz="1200">
                <a:latin typeface="Arial"/>
                <a:ea typeface="Arial"/>
                <a:cs typeface="Arial"/>
              </a:rPr>
              <a:t>Mittuniversitetet</a:t>
            </a:r>
          </a:p>
        </p:txBody>
      </p:sp>
      <p:sp>
        <p:nvSpPr>
          <p:cNvPr id="5" name="Platshållare för sidfot 4">
            <a:extLst xmlns:a="http://schemas.openxmlformats.org/drawingml/2006/main">
              <a:ext uri="{FF2B5EF4-FFF2-40B4-BE49-F238E27FC236}">
                <a16:creationId xmlns:a16="http://schemas.microsoft.com/office/drawing/2014/main" id="{DDCF2F9F-F776-4889-8901-F1E82316A29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212000" y="6357600"/>
            <a:ext cx="3405553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10800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/>
        </p:txBody>
      </p:sp>
      <p:sp>
        <p:nvSpPr>
          <p:cNvPr id="4" name="Platshållare för datum 3">
            <a:extLst xmlns:a="http://schemas.openxmlformats.org/drawingml/2006/main">
              <a:ext uri="{FF2B5EF4-FFF2-40B4-BE49-F238E27FC236}">
                <a16:creationId xmlns:a16="http://schemas.microsoft.com/office/drawing/2014/main" id="{A6C71D3F-17FF-4A5D-B697-3CECCC9D065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704000" y="6356351"/>
            <a:ext cx="1529865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36000" tIns="45720" rIns="9000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fld id="{2D44CBEE-E6DE-47E3-981B-80C11ECF5B1C}" type="datetimeFigureOut">
              <a:t>2026-06-09</a:t>
            </a:fld>
          </a:p>
        </p:txBody>
      </p:sp>
      <p:sp>
        <p:nvSpPr>
          <p:cNvPr id="6" name="Platshållare för bildnummer 5">
            <a:extLst xmlns:a="http://schemas.openxmlformats.org/drawingml/2006/main">
              <a:ext uri="{FF2B5EF4-FFF2-40B4-BE49-F238E27FC236}">
                <a16:creationId xmlns:a16="http://schemas.microsoft.com/office/drawing/2014/main" id="{C22AEAE9-6426-4400-A3C4-5F679B7CE9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9823932" y="6356350"/>
            <a:ext cx="1529867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fld id="{1334427D-BC02-4BB6-9552-FEF7E6C4F2BF}" type="slidenum">
              <a:t>‹#›</a:t>
            </a:fld>
          </a:p>
        </p:txBody>
      </p:sp>
      <p:sp>
        <p:nvSpPr>
          <p:cNvPr id="9" name="Rak 8">
            <a:extLst xmlns:a="http://schemas.openxmlformats.org/drawingml/2006/main">
              <a:ext uri="{FF2B5EF4-FFF2-40B4-BE49-F238E27FC236}">
                <a16:creationId xmlns:a16="http://schemas.microsoft.com/office/drawing/2014/main" id="{45576715-F25D-4754-B6C4-C7A8FFD0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48" y="6310166"/>
            <a:ext cx="10512000" cy="0"/>
          </a:xfrm>
          <a:prstGeom xmlns:a="http://schemas.openxmlformats.org/drawingml/2006/main" prst="line">
            <a:avLst/>
          </a:prstGeom>
          <a:ln xmlns:a="http://schemas.openxmlformats.org/drawingml/2006/main" w="3175">
            <a:solidFill>
              <a:schemeClr val="tx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3" name="107192D2-3778-4ECE-8BEC-1F42874D3F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10fb2a8624c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80000" y="360000"/>
            <a:ext cx="1565081" cy="72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textruta 9">
            <a:extLst xmlns:a="http://schemas.openxmlformats.org/drawingml/2006/main">
              <a:ext uri="{FF2B5EF4-FFF2-40B4-BE49-F238E27FC236}">
                <a16:creationId xmlns:a16="http://schemas.microsoft.com/office/drawing/2014/main" id="{8C4952BD-DD04-89C6-97EE-1021B6AA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" y="63500"/>
            <a:ext cx="10414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000000">
                    <a:alpha val="50000"/>
                  </a:srgbClr>
                </a:solidFill>
                <a:latin typeface="Aptos"/>
                <a:ea typeface="Aptos"/>
                <a:cs typeface="Aptos"/>
              </a:rPr>
              <a:t>Begränsad delning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53d93ce1594200"/>
    <p:sldLayoutId xmlns:r="http://schemas.openxmlformats.org/officeDocument/2006/relationships" id="2147483650" r:id="R43159199347644b8"/>
    <p:sldLayoutId xmlns:r="http://schemas.openxmlformats.org/officeDocument/2006/relationships" id="2147483651" r:id="Re70731daa0974919"/>
    <p:sldLayoutId xmlns:r="http://schemas.openxmlformats.org/officeDocument/2006/relationships" id="2147483652" r:id="Rf9c0355ba63d4c5f"/>
    <p:sldLayoutId xmlns:r="http://schemas.openxmlformats.org/officeDocument/2006/relationships" id="2147483653" r:id="Rbce9c9ef07ad475d"/>
    <p:sldLayoutId xmlns:r="http://schemas.openxmlformats.org/officeDocument/2006/relationships" id="2147483654" r:id="Rca468e005e484e65"/>
    <p:sldLayoutId xmlns:r="http://schemas.openxmlformats.org/officeDocument/2006/relationships" id="2147483655" r:id="R015028a8c94b45f4"/>
    <p:sldLayoutId xmlns:r="http://schemas.openxmlformats.org/officeDocument/2006/relationships" id="2147483656" r:id="Rd89e34943e98477d"/>
    <p:sldLayoutId xmlns:r="http://schemas.openxmlformats.org/officeDocument/2006/relationships" id="2147483657" r:id="R28031f4495d84ad4"/>
    <p:sldLayoutId xmlns:r="http://schemas.openxmlformats.org/officeDocument/2006/relationships" id="2147483658" r:id="R828d9fb560494066"/>
    <p:sldLayoutId xmlns:r="http://schemas.openxmlformats.org/officeDocument/2006/relationships" id="2147483659" r:id="R42cf4f37c5e742f5"/>
    <p:sldLayoutId xmlns:r="http://schemas.openxmlformats.org/officeDocument/2006/relationships" id="2147483660" r:id="Rebc01fdab0e648a7"/>
    <p:sldLayoutId xmlns:r="http://schemas.openxmlformats.org/officeDocument/2006/relationships" id="2147483661" r:id="Rfdc1166d676f4952"/>
  </p:sldLayoutIdLst>
  <p:txStyles>
    <p:titleStyle>
      <a:lvl1pPr xmlns:a="http://schemas.openxmlformats.org/drawingml/2006/main" algn="l">
        <a:lnSpc>
          <a:spcPts val="3600"/>
        </a:lnSpc>
        <a:spcBef>
          <a:spcPts val="0"/>
        </a:spcBef>
        <a:buNone/>
        <a:defRPr sz="2200" b="1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100000"/>
        </a:lnSpc>
        <a:spcBef>
          <a:spcPts val="1500"/>
        </a:spcBef>
        <a:spcAft>
          <a:spcPts val="0"/>
        </a:spcAft>
        <a:buChar char="•"/>
        <a:defRPr sz="200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j-lt"/>
          <a:ea typeface="+mj-lt"/>
          <a:cs typeface="+mj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1600">
          <a:solidFill>
            <a:schemeClr val="tx1"/>
          </a:solidFill>
          <a:latin typeface="+mj-lt"/>
          <a:ea typeface="+mj-lt"/>
          <a:cs typeface="+mj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600">
          <a:solidFill>
            <a:schemeClr val="tx1"/>
          </a:solidFill>
          <a:latin typeface="+mj-lt"/>
          <a:ea typeface="+mj-lt"/>
          <a:cs typeface="+mj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600">
          <a:solidFill>
            <a:schemeClr val="tx1"/>
          </a:solidFill>
          <a:latin typeface="+mj-lt"/>
          <a:ea typeface="+mj-lt"/>
          <a:cs typeface="+mj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Mittuniversitetet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CB9"/>
      </a:accent1>
      <a:accent2>
        <a:srgbClr val="00BFD6"/>
      </a:accent2>
      <a:accent3>
        <a:srgbClr val="007934"/>
      </a:accent3>
      <a:accent4>
        <a:srgbClr val="3FAE2A"/>
      </a:accent4>
      <a:accent5>
        <a:srgbClr val="706259"/>
      </a:accent5>
      <a:accent6>
        <a:srgbClr val="AEA299"/>
      </a:accent6>
      <a:hlink>
        <a:srgbClr val="0563C1"/>
      </a:hlink>
      <a:folHlink>
        <a:srgbClr val="954F72"/>
      </a:folHlink>
    </a:clrScheme>
    <a:fontScheme name="PP Mittuniversitet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ittuniversitete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2a682f8a334719" /><Relationship Type="http://schemas.openxmlformats.org/officeDocument/2006/relationships/notesSlide" Target="/ppt/notesSlides/notesSlide1.xml" Id="R84a68ca32a3f47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d168d950da4196" /><Relationship Type="http://schemas.openxmlformats.org/officeDocument/2006/relationships/notesSlide" Target="/ppt/notesSlides/notesSlide2.xml" Id="R69051d04be8746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4598b3ca78405c" /><Relationship Type="http://schemas.openxmlformats.org/officeDocument/2006/relationships/notesSlide" Target="/ppt/notesSlides/notesSlide3.xml" Id="R8fc36c25776741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1f97a35a764fe1" /><Relationship Type="http://schemas.openxmlformats.org/officeDocument/2006/relationships/notesSlide" Target="/ppt/notesSlides/notesSlide4.xml" Id="R3135f5d939444f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8e49e6ae66487f" /><Relationship Type="http://schemas.openxmlformats.org/officeDocument/2006/relationships/image" Target="/ppt/media/image2.png" Id="R6249aba62cea4873" /><Relationship Type="http://schemas.openxmlformats.org/officeDocument/2006/relationships/notesSlide" Target="/ppt/notesSlides/notesSlide5.xml" Id="R6de8a5d9735441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32fbb3c4974e43" /><Relationship Type="http://schemas.openxmlformats.org/officeDocument/2006/relationships/image" Target="/ppt/media/image3.png" Id="Rd621a236ddd64b80" /><Relationship Type="http://schemas.openxmlformats.org/officeDocument/2006/relationships/image" Target="/ppt/media/image4.png" Id="Reb8b4b802c6f4b95" /><Relationship Type="http://schemas.openxmlformats.org/officeDocument/2006/relationships/notesSlide" Target="/ppt/notesSlides/notesSlide6.xml" Id="Rfb57fec11cbe4c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c98afc4d9b42e2" /><Relationship Type="http://schemas.openxmlformats.org/officeDocument/2006/relationships/image" Target="/ppt/media/image5.png" Id="R6b54747c2cfc48a8" /><Relationship Type="http://schemas.openxmlformats.org/officeDocument/2006/relationships/notesSlide" Target="/ppt/notesSlides/notesSlide7.xml" Id="R4e65dc6ed9124a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be53e54cb745b8" /><Relationship Type="http://schemas.openxmlformats.org/officeDocument/2006/relationships/image" Target="/ppt/media/image6.png" Id="Ra5ffc3b03a774d16" /><Relationship Type="http://schemas.openxmlformats.org/officeDocument/2006/relationships/notesSlide" Target="/ppt/notesSlides/notesSlide8.xml" Id="Rbd2b5adebd6b42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408ef435c4940" /><Relationship Type="http://schemas.openxmlformats.org/officeDocument/2006/relationships/image" Target="/ppt/media/image7.png" Id="R00fbfccbf4af44c5" /><Relationship Type="http://schemas.openxmlformats.org/officeDocument/2006/relationships/notesSlide" Target="/ppt/notesSlides/notesSlide9.xml" Id="R44aec4c2d55c4c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e7ce65fdb34bb2" /><Relationship Type="http://schemas.openxmlformats.org/officeDocument/2006/relationships/image" Target="/ppt/media/image8.png" Id="Ra56d3323f9894b0b" /><Relationship Type="http://schemas.openxmlformats.org/officeDocument/2006/relationships/notesSlide" Target="/ppt/notesSlides/notesSlide10.xml" Id="Rdeca46d74ae04b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8b701a5a444746" /><Relationship Type="http://schemas.openxmlformats.org/officeDocument/2006/relationships/image" Target="/ppt/media/image9.png" Id="R44bb926153294694" /><Relationship Type="http://schemas.openxmlformats.org/officeDocument/2006/relationships/image" Target="/ppt/media/image10.png" Id="R87439a68c02b4522" /><Relationship Type="http://schemas.openxmlformats.org/officeDocument/2006/relationships/notesSlide" Target="/ppt/notesSlides/notesSlide11.xml" Id="R25372b012d4f47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88a26f79042eb" /><Relationship Type="http://schemas.openxmlformats.org/officeDocument/2006/relationships/image" Target="/ppt/media/image5.png" Id="R8cb9a29319f6442c" /><Relationship Type="http://schemas.openxmlformats.org/officeDocument/2006/relationships/notesSlide" Target="/ppt/notesSlides/notesSlide12.xml" Id="R64f4c9a0f83945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d9bc1a463f4356" /><Relationship Type="http://schemas.openxmlformats.org/officeDocument/2006/relationships/image" Target="/ppt/media/image11.png" Id="Rff68b2a0ecb74762" /><Relationship Type="http://schemas.openxmlformats.org/officeDocument/2006/relationships/notesSlide" Target="/ppt/notesSlides/notesSlide13.xml" Id="R7a4d989680d046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6f7ea7e40942bf" /><Relationship Type="http://schemas.openxmlformats.org/officeDocument/2006/relationships/image" Target="/ppt/media/image12.png" Id="R7a5a944ebee3424d" /><Relationship Type="http://schemas.openxmlformats.org/officeDocument/2006/relationships/notesSlide" Target="/ppt/notesSlides/notesSlide14.xml" Id="R6c1a0884a1af498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5e1944329944f7" /><Relationship Type="http://schemas.openxmlformats.org/officeDocument/2006/relationships/image" Target="/ppt/media/image13.png" Id="R4ad10036ccc24f42" /><Relationship Type="http://schemas.openxmlformats.org/officeDocument/2006/relationships/notesSlide" Target="/ppt/notesSlides/notesSlide15.xml" Id="Re3f5e4e4a40848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1854031cc84f57" /><Relationship Type="http://schemas.openxmlformats.org/officeDocument/2006/relationships/notesSlide" Target="/ppt/notesSlides/notesSlide16.xml" Id="R408e0a8f29fd49a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ubrik 1">
            <a:extLst xmlns:a="http://schemas.openxmlformats.org/drawingml/2006/main">
              <a:ext uri="{FF2B5EF4-FFF2-40B4-BE49-F238E27FC236}">
                <a16:creationId xmlns:a16="http://schemas.microsoft.com/office/drawing/2014/main" id="{882D62A5-8D3E-4D3E-B440-A70CF75EA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1447800"/>
            <a:ext cx="10820400" cy="1428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2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Design and Evaluation of an n8n-Based Workflow-to-Action Architecture</a:t>
            </a:r>
          </a:p>
          <a:p xmlns:a="http://schemas.openxmlformats.org/drawingml/2006/main">
            <a:r>
              <a:rPr sz="232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for IoT-Style Fan Control</a:t>
            </a:r>
          </a:p>
        </p:txBody>
      </p:sp>
      <p:sp>
        <p:nvSpPr>
          <p:cNvPr id="3" name="Underrubrik 2">
            <a:extLst xmlns:a="http://schemas.openxmlformats.org/drawingml/2006/main">
              <a:ext uri="{FF2B5EF4-FFF2-40B4-BE49-F238E27FC236}">
                <a16:creationId xmlns:a16="http://schemas.microsoft.com/office/drawing/2014/main" id="{3FA906E6-C9F3-4B3F-A340-E3F2F993B86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3900" y="3276600"/>
            <a:ext cx="10287000" cy="4953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PC-hosted n8n, Python middleware, and Raspberry Pi middleware validation</a:t>
            </a:r>
          </a:p>
        </p:txBody>
      </p:sp>
      <p:sp>
        <p:nvSpPr>
          <p:cNvPr id="4" name="slide-01-footer-info">
            <a:extLst xmlns:a="http://schemas.openxmlformats.org/drawingml/2006/main">
              <a:ext uri="{FF2B5EF4-FFF2-40B4-BE49-F238E27FC236}">
                <a16:creationId xmlns:a16="http://schemas.microsoft.com/office/drawing/2014/main" id="{24081421-2D79-4923-8CC9-FB1ABF5E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581650"/>
            <a:ext cx="5334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Yacoub Dawli</a:t>
            </a:r>
          </a:p>
          <a:p xmlns:a="http://schemas.openxmlformats.org/drawingml/2006/main"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DT099G Bachelor Thesis</a:t>
            </a:r>
          </a:p>
          <a:p xmlns:a="http://schemas.openxmlformats.org/drawingml/2006/main">
            <a:r>
              <a:rPr sz="13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Mid Sweden University</a:t>
            </a:r>
          </a:p>
        </p:txBody>
      </p:sp>
      <p:sp>
        <p:nvSpPr>
          <p:cNvPr id="5" name="slide-01-rq-panel-bg">
            <a:extLst xmlns:a="http://schemas.openxmlformats.org/drawingml/2006/main">
              <a:ext uri="{FF2B5EF4-FFF2-40B4-BE49-F238E27FC236}">
                <a16:creationId xmlns:a16="http://schemas.microsoft.com/office/drawing/2014/main" id="{EAF1CAE3-3019-45FA-A816-ED534464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10744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0478">
            <a:solidFill>
              <a:srgbClr val="D6E0EC"/>
            </a:solidFill>
            <a:prstDash val="solid"/>
          </a:ln>
        </p:spPr>
      </p:sp>
      <p:sp>
        <p:nvSpPr>
          <p:cNvPr id="6" name="slide-01-rq-panel-accent">
            <a:extLst xmlns:a="http://schemas.openxmlformats.org/drawingml/2006/main">
              <a:ext uri="{FF2B5EF4-FFF2-40B4-BE49-F238E27FC236}">
                <a16:creationId xmlns:a16="http://schemas.microsoft.com/office/drawing/2014/main" id="{06CCFA19-BC79-4884-8823-C0ADC7CE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1074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7" name="slide-01-rq-heading">
            <a:extLst xmlns:a="http://schemas.openxmlformats.org/drawingml/2006/main">
              <a:ext uri="{FF2B5EF4-FFF2-40B4-BE49-F238E27FC236}">
                <a16:creationId xmlns:a16="http://schemas.microsoft.com/office/drawing/2014/main" id="{904A849D-2F2E-47A0-B306-B73FADA7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8" name="slide-01-rq-body">
            <a:extLst xmlns:a="http://schemas.openxmlformats.org/drawingml/2006/main">
              <a:ext uri="{FF2B5EF4-FFF2-40B4-BE49-F238E27FC236}">
                <a16:creationId xmlns:a16="http://schemas.microsoft.com/office/drawing/2014/main" id="{9B33D305-C5F7-4CA8-B0B3-F88CB8A7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1017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4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RQ1: How accurately does the deterministic workflow produce expected fan actions?</a:t>
            </a:r>
          </a:p>
          <a:p xmlns:a="http://schemas.openxmlformats.org/drawingml/2006/main">
            <a:pPr algn="l">
              <a:buNone/>
              <a:defRPr sz="114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RQ2: How accurately does the agent-enhanced workflow produce contract-valid action output?</a:t>
            </a:r>
          </a:p>
          <a:p xmlns:a="http://schemas.openxmlformats.org/drawingml/2006/main">
            <a:pPr algn="l">
              <a:buNone/>
              <a:defRPr sz="114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RQ3: What latency, resource, and deployment behavior is observed locally and in Pi middleware validation?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7BD5289-5D29-4341-9FBF-85F089E6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The simple idea</a:t>
            </a:r>
          </a:p>
        </p:txBody>
      </p:sp>
      <p:sp>
        <p:nvSpPr>
          <p:cNvPr id="2" name="flow-box">
            <a:extLst xmlns:a="http://schemas.openxmlformats.org/drawingml/2006/main">
              <a:ext uri="{FF2B5EF4-FFF2-40B4-BE49-F238E27FC236}">
                <a16:creationId xmlns:a16="http://schemas.microsoft.com/office/drawing/2014/main" id="{188A68CC-FC1E-40D0-B3EB-F74D5FA1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 lIns="133350" tIns="114300" rIns="133350" bIns="1143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Temperature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3" name="flow-box">
            <a:extLst xmlns:a="http://schemas.openxmlformats.org/drawingml/2006/main">
              <a:ext uri="{FF2B5EF4-FFF2-40B4-BE49-F238E27FC236}">
                <a16:creationId xmlns:a16="http://schemas.microsoft.com/office/drawing/2014/main" id="{BAC9A467-7B17-431C-9737-A768342E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14625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 lIns="133350" tIns="114300" rIns="133350" bIns="1143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n8n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4" name="flow-box">
            <a:extLst xmlns:a="http://schemas.openxmlformats.org/drawingml/2006/main">
              <a:ext uri="{FF2B5EF4-FFF2-40B4-BE49-F238E27FC236}">
                <a16:creationId xmlns:a16="http://schemas.microsoft.com/office/drawing/2014/main" id="{8663E051-8E05-47AB-A854-539BC5A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 lIns="133350" tIns="114300" rIns="133350" bIns="1143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Python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middleware</a:t>
            </a:r>
          </a:p>
        </p:txBody>
      </p:sp>
      <p:sp>
        <p:nvSpPr>
          <p:cNvPr id="5" name="flow-box">
            <a:extLst xmlns:a="http://schemas.openxmlformats.org/drawingml/2006/main">
              <a:ext uri="{FF2B5EF4-FFF2-40B4-BE49-F238E27FC236}">
                <a16:creationId xmlns:a16="http://schemas.microsoft.com/office/drawing/2014/main" id="{6ABAC10C-4766-41CF-A039-66639204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14625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 lIns="133350" tIns="114300" rIns="133350" bIns="1143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Simulated fan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0C79110-923A-48FC-AD5B-6BA7E1A0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019425"/>
            <a:ext cx="552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DA7668F-6B98-4291-8C0F-E2DE96FA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019425"/>
            <a:ext cx="552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0059DEF-ACE4-44B1-8767-5FF9E839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019425"/>
            <a:ext cx="552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4E1E3AC-875D-454B-957B-A87F37E0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71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fan_on / fan_off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E4B88B1-9C48-4FD8-A805-DAFA4220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1057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fan is the test case. The architecture around the action is the thesis.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07E2C87-CBF5-46F7-85E5-1A56AFE1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D42548E-A037-4D87-B5FF-AFB668B7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workflow can do more than move data.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It can trigger actions.</a:t>
            </a:r>
          </a:p>
        </p:txBody>
      </p:sp>
      <p:sp>
        <p:nvSpPr>
          <p:cNvPr id="3" name="card-box">
            <a:extLst xmlns:a="http://schemas.openxmlformats.org/drawingml/2006/main">
              <a:ext uri="{FF2B5EF4-FFF2-40B4-BE49-F238E27FC236}">
                <a16:creationId xmlns:a16="http://schemas.microsoft.com/office/drawing/2014/main" id="{3E484BE3-C52A-4A10-97DA-FCD5FAA3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8EB3DBD-AEAC-40D3-B261-E7D33CC4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19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0DF82E2-FC01-40D8-BC53-7E35D24C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chose fan_on </a:t>
            </a:r>
            <a:br/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or fan_off?</a:t>
            </a:r>
          </a:p>
        </p:txBody>
      </p:sp>
      <p:sp>
        <p:nvSpPr>
          <p:cNvPr id="6" name="card-box">
            <a:extLst xmlns:a="http://schemas.openxmlformats.org/drawingml/2006/main">
              <a:ext uri="{FF2B5EF4-FFF2-40B4-BE49-F238E27FC236}">
                <a16:creationId xmlns:a16="http://schemas.microsoft.com/office/drawing/2014/main" id="{450441FC-9E83-4748-9D9C-CF01C175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3305E68-1BB9-4F0F-9A70-754455EE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19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Action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C31EC69-8A88-47D1-B2BB-2C09DF68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148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Where was the action handled?</a:t>
            </a:r>
          </a:p>
        </p:txBody>
      </p:sp>
      <p:sp>
        <p:nvSpPr>
          <p:cNvPr id="9" name="card-box">
            <a:extLst xmlns:a="http://schemas.openxmlformats.org/drawingml/2006/main">
              <a:ext uri="{FF2B5EF4-FFF2-40B4-BE49-F238E27FC236}">
                <a16:creationId xmlns:a16="http://schemas.microsoft.com/office/drawing/2014/main" id="{01EB1363-CA02-49BF-A5E8-E4FCEE06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4288">
            <a:solidFill>
              <a:srgbClr val="B8C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B1D01B1-45E8-465E-8B70-35F8F6E6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619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BB1A87B-E066-4A81-9359-2E250C82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148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result was recorded?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34A7AB2-3249-4A88-8B36-CA03F06F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thesis evaluates this workflow-to-action chain.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6591EB3-8D4D-4094-B0BE-304C896D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Focused final scope</a:t>
            </a:r>
          </a:p>
        </p:txBody>
      </p:sp>
      <p:sp>
        <p:nvSpPr>
          <p:cNvPr id="2" name="scope-box">
            <a:extLst xmlns:a="http://schemas.openxmlformats.org/drawingml/2006/main">
              <a:ext uri="{FF2B5EF4-FFF2-40B4-BE49-F238E27FC236}">
                <a16:creationId xmlns:a16="http://schemas.microsoft.com/office/drawing/2014/main" id="{4AAE1462-2713-4FBC-9E7A-A984B64A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4"/>
            <a:ext cx="2857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11430">
            <a:solidFill>
              <a:srgbClr val="B8C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4411C3E-5A41-42CD-923E-F22DABF2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Broad original direction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7ACF45B-4BA8-41C3-B6D8-F0579EBB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76625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more devices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E116F4A-3FD9-4CFA-A098-8B7B7683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290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more workflows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50B1EE8-8FA2-40E5-9EC4-163EB265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81475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more deployment options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166B651-608D-4DEB-814A-F9AD92C1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766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narrowed to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4236073-0915-46B7-B904-69ABD066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62350"/>
            <a:ext cx="114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scope-box">
            <a:extLst xmlns:a="http://schemas.openxmlformats.org/drawingml/2006/main">
              <a:ext uri="{FF2B5EF4-FFF2-40B4-BE49-F238E27FC236}">
                <a16:creationId xmlns:a16="http://schemas.microsoft.com/office/drawing/2014/main" id="{9EB3822B-F3F2-464C-8B2F-D436C8BB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4762500" cy="3039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2095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E967272-447E-40FB-95E9-1A06302A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67000"/>
            <a:ext cx="4191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Final scope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5CCCDF0-9E17-4209-ABC6-C61F7C9A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00400"/>
            <a:ext cx="3810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one temperature-to-fan scenario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80F63CE-C37F-4016-B0F7-6B20F1DB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62350"/>
            <a:ext cx="3810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self-hosted n8n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7E92445-5AD2-4A33-9344-741E9B69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24300"/>
            <a:ext cx="3810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Python middleware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9678F6E-F4F2-4364-AA61-8DEAE570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86250"/>
            <a:ext cx="390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deterministic + agent workflow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93F320F-A04C-4E45-A065-D5F10D33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482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CSV evidence + Raspberry Pi middleware validation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AF269D0-1D49-4080-97DC-7E862964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57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Goal: one complete and measurable workflow-to-action chain.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F0F155B-99ED-4F10-B775-5709E476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Final system overview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5598C18-C3A3-45BF-865F-9ED1B2A3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057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Mock temperature input → n8n workflow → Python middleware → simulated fan state →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recorded evidence</a:t>
            </a:r>
          </a:p>
        </p:txBody>
      </p:sp>
      <p:sp>
        <p:nvSpPr>
          <p:cNvPr id="3" name="architecture-image-frame">
            <a:extLst xmlns:a="http://schemas.openxmlformats.org/drawingml/2006/main">
              <a:ext uri="{FF2B5EF4-FFF2-40B4-BE49-F238E27FC236}">
                <a16:creationId xmlns:a16="http://schemas.microsoft.com/office/drawing/2014/main" id="{29B4C162-8111-4682-A8D2-0D918F1A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57450"/>
            <a:ext cx="5715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Bildobjekt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9aba62cea4873"/>
          <a:stretch xmlns:a="http://schemas.openxmlformats.org/drawingml/2006/main"/>
        </p:blipFill>
        <p:spPr>
          <a:xfrm xmlns:a="http://schemas.openxmlformats.org/drawingml/2006/main">
            <a:off x="4713358" y="2552700"/>
            <a:ext cx="2765285" cy="3371850"/>
          </a:xfrm>
          <a:prstGeom xmlns:a="http://schemas.openxmlformats.org/drawingml/2006/main" prst="rect">
            <a:avLst/>
          </a:prstGeom>
        </p:spPr>
      </p:pic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7E81A74-82A9-4468-BC11-D34B3ED4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the main workflow-to-action chain evaluated in the thesis.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D9AA619-7637-4179-BD8A-6D91FE29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n8n and Docker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7684B41-DF58-49F2-A684-A0BFCE62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n8n runs locally through Docker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793C899-3AEE-43A8-99AF-33760B01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647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Docker Compose starts the workflow environment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8E6CBC0-D244-4D28-8354-063F5F58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533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n8n opens at localhost:5678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6CAECF2-FB83-4622-8DE5-14ADEB3E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  <p:sp>
        <p:nvSpPr>
          <p:cNvPr id="6" name="docker-frame">
            <a:extLst xmlns:a="http://schemas.openxmlformats.org/drawingml/2006/main">
              <a:ext uri="{FF2B5EF4-FFF2-40B4-BE49-F238E27FC236}">
                <a16:creationId xmlns:a16="http://schemas.microsoft.com/office/drawing/2014/main" id="{46A1004A-9537-4548-B5E3-49C7822F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49530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Bildobjekt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1a236ddd64b80"/>
          <a:stretch xmlns:a="http://schemas.openxmlformats.org/drawingml/2006/main"/>
        </p:blipFill>
        <p:spPr>
          <a:xfrm xmlns:a="http://schemas.openxmlformats.org/drawingml/2006/main">
            <a:off x="953215" y="3581400"/>
            <a:ext cx="4608669" cy="2590800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FF9C7E3-8CC3-433C-9E26-BB83ACEE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00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n8n at localhost:5678</a:t>
            </a:r>
          </a:p>
        </p:txBody>
      </p:sp>
      <p:sp>
        <p:nvSpPr>
          <p:cNvPr id="9" name="n8n-frame">
            <a:extLst xmlns:a="http://schemas.openxmlformats.org/drawingml/2006/main">
              <a:ext uri="{FF2B5EF4-FFF2-40B4-BE49-F238E27FC236}">
                <a16:creationId xmlns:a16="http://schemas.microsoft.com/office/drawing/2014/main" id="{EC74225F-3084-4B15-9411-4EB3C121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05100"/>
            <a:ext cx="3429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1" name="Bildobjekt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b4b802c6f4b95"/>
          <a:stretch xmlns:a="http://schemas.openxmlformats.org/drawingml/2006/main"/>
        </p:blipFill>
        <p:spPr>
          <a:xfrm xmlns:a="http://schemas.openxmlformats.org/drawingml/2006/main">
            <a:off x="7059251" y="2819400"/>
            <a:ext cx="3102698" cy="3333750"/>
          </a:xfrm>
          <a:prstGeom xmlns:a="http://schemas.openxmlformats.org/drawingml/2006/main" prst="rect">
            <a:avLst/>
          </a:prstGeom>
        </p:spPr>
      </p:pic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A54DA8A-BE56-4EF4-8CA7-B6C3165C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19850"/>
            <a:ext cx="1057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Docker was the practical way to run n8n locally.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8E5C1C1-CE3F-4CC9-BE90-ECF4961A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Temperature input as a mock sensor event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5D314B9-3831-45D8-BEBE-D46DA9CA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temperature is manually sent as a mock sensor event.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It imitates what a real sensor could send later.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3BE963E-9820-4422-AB1E-3B012592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No real thermometer/GPIO sensor is used in the core evaluation.</a:t>
            </a:r>
          </a:p>
        </p:txBody>
      </p:sp>
      <p:sp>
        <p:nvSpPr>
          <p:cNvPr id="4" name="box">
            <a:extLst xmlns:a="http://schemas.openxmlformats.org/drawingml/2006/main">
              <a:ext uri="{FF2B5EF4-FFF2-40B4-BE49-F238E27FC236}">
                <a16:creationId xmlns:a16="http://schemas.microsoft.com/office/drawing/2014/main" id="{E57124AC-9886-43B6-8454-E7E45B43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40005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13335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AA36A5B-65C1-44EC-9D73-701A7BAB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Example mock sensor event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70CF80E-5182-4669-BFAF-12A4A362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323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"sensor_id": "temp_01",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"type": "temperature",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"value": 31.4,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"unit": "C",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"timestamp": "..."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9A340EC-78D9-4787-B96F-34D60031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147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sent to n8n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5AC1F7B-6BE2-4430-8177-74AC8A0C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00500"/>
            <a:ext cx="104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-&gt;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A5B43DD4-C12B-4E8F-81C8-6C865490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4286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1" name="Bildobjekt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4747c2cfc48a8"/>
          <a:stretch xmlns:a="http://schemas.openxmlformats.org/drawingml/2006/main"/>
        </p:blipFill>
        <p:spPr>
          <a:xfrm xmlns:a="http://schemas.openxmlformats.org/drawingml/2006/main">
            <a:off x="6800850" y="3707268"/>
            <a:ext cx="3981450" cy="986515"/>
          </a:xfrm>
          <a:prstGeom xmlns:a="http://schemas.openxmlformats.org/drawingml/2006/main" prst="rect">
            <a:avLst/>
          </a:prstGeom>
        </p:spPr>
      </p:pic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68E0D32-2679-4442-A51E-FCF1B4C8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15050"/>
            <a:ext cx="10572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mock sensor provides the input. n8n makes the decision.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AE10927-7632-421A-A0C1-1420D7DF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Deterministic workflow</a:t>
            </a:r>
          </a:p>
        </p:txBody>
      </p:sp>
      <p:sp>
        <p:nvSpPr>
          <p:cNvPr id="2" name="box">
            <a:extLst xmlns:a="http://schemas.openxmlformats.org/drawingml/2006/main">
              <a:ext uri="{FF2B5EF4-FFF2-40B4-BE49-F238E27FC236}">
                <a16:creationId xmlns:a16="http://schemas.microsoft.com/office/drawing/2014/main" id="{D850383C-62B7-402E-A604-7ED2C2C8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714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AEA1C78-C98F-4305-B1D9-2FC50ADD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Baseline rule: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8DD5C89-7FD4-481A-ADFF-F43628F0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33273"/>
            <a:ext cx="4400550" cy="1132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n8n IF node decides the path.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 AI-Agent is used in this baseline.</a:t>
            </a:r>
          </a:p>
        </p:txBody>
      </p:sp>
      <p:sp>
        <p:nvSpPr>
          <p:cNvPr id="6" name="box">
            <a:extLst xmlns:a="http://schemas.openxmlformats.org/drawingml/2006/main">
              <a:ext uri="{FF2B5EF4-FFF2-40B4-BE49-F238E27FC236}">
                <a16:creationId xmlns:a16="http://schemas.microsoft.com/office/drawing/2014/main" id="{A4318AAE-7D62-4AAF-872B-34089DCE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09750"/>
            <a:ext cx="59055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7" name="Bildobjekt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ffc3b03a774d16"/>
          <a:stretch xmlns:a="http://schemas.openxmlformats.org/drawingml/2006/main"/>
        </p:blipFill>
        <p:spPr>
          <a:xfrm xmlns:a="http://schemas.openxmlformats.org/drawingml/2006/main">
            <a:off x="5334000" y="2543096"/>
            <a:ext cx="5600700" cy="2190907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B7B92DE-86CA-4ABC-AC55-6AC552BD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3719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1. IF node checks temperature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5AB624B-5911-482C-900F-A641F35B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184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2. High temperature -&gt; fan_on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997DEA8-691A-4779-820D-9C5E4520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3768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3. Low temperature -&gt; fan_off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D3C532F-9C3C-417C-9568-85BCBFDD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57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deterministic workflow gives a stable baseline for comparison.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88610C3-4297-4AE9-9FD6-830AF0BC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Agent-enhanced workflow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6714446-FB91-4126-AA7E-82D7A29D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4017193" cy="8340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 path: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temperature event -&gt; LLM step 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-&gt;  structured action</a:t>
            </a:r>
          </a:p>
        </p:txBody>
      </p:sp>
      <p:sp>
        <p:nvSpPr>
          <p:cNvPr id="3" name="box">
            <a:extLst xmlns:a="http://schemas.openxmlformats.org/drawingml/2006/main">
              <a:ext uri="{FF2B5EF4-FFF2-40B4-BE49-F238E27FC236}">
                <a16:creationId xmlns:a16="http://schemas.microsoft.com/office/drawing/2014/main" id="{20A3FFAD-438C-4398-B0A3-F2163735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3857625" cy="17798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13335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331ABFA-5687-449E-B9D7-74E640B1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Example structured output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372D971-6E0C-45E3-8311-4146E2E1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"action_id": "fan_on",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"target": "fan_1"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box">
            <a:extLst xmlns:a="http://schemas.openxmlformats.org/drawingml/2006/main">
              <a:ext uri="{FF2B5EF4-FFF2-40B4-BE49-F238E27FC236}">
                <a16:creationId xmlns:a16="http://schemas.microsoft.com/office/drawing/2014/main" id="{44CD2CC5-297E-43C2-ADE7-46EEC7C6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09750"/>
            <a:ext cx="600075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9" name="Bildobjekt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bfccbf4af44c5"/>
          <a:stretch xmlns:a="http://schemas.openxmlformats.org/drawingml/2006/main"/>
        </p:blipFill>
        <p:spPr>
          <a:xfrm xmlns:a="http://schemas.openxmlformats.org/drawingml/2006/main">
            <a:off x="5295900" y="2648207"/>
            <a:ext cx="5695950" cy="1847335"/>
          </a:xfrm>
          <a:prstGeom xmlns:a="http://schemas.openxmlformats.org/drawingml/2006/main" prst="rect">
            <a:avLst/>
          </a:prstGeom>
        </p:spPr>
      </p:pic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F894457-A7AB-4EA5-8AAD-C59C3883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32648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1. LLM step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7E8B9E3-6DB4-4973-AD4B-BF38E8B3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0386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2. Structured action output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4279F25-384E-4B72-B6D2-40946A74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056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3. Sent forward to middleware</a:t>
            </a:r>
          </a:p>
        </p:txBody>
      </p:sp>
      <p:sp>
        <p:nvSpPr>
          <p:cNvPr id="11" name="box">
            <a:extLst xmlns:a="http://schemas.openxmlformats.org/drawingml/2006/main">
              <a:ext uri="{FF2B5EF4-FFF2-40B4-BE49-F238E27FC236}">
                <a16:creationId xmlns:a16="http://schemas.microsoft.com/office/drawing/2014/main" id="{B866050E-B277-43A4-8AF3-29B3ADB1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24" y="5700074"/>
            <a:ext cx="10458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4288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85F616E-6668-4597-882A-F188BDF3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53100"/>
            <a:ext cx="990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threshold does not need AI.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point is to test structured agent output in the same workflow-to-action setup.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F63E029-BB37-4236-B040-4F00A44A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Python middleware and simulated fan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0DAFE33-102A-4140-8131-1C22D645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n8n decides. Python handles the action.</a:t>
            </a:r>
          </a:p>
        </p:txBody>
      </p:sp>
      <p:sp>
        <p:nvSpPr>
          <p:cNvPr id="3" name="box">
            <a:extLst xmlns:a="http://schemas.openxmlformats.org/drawingml/2006/main">
              <a:ext uri="{FF2B5EF4-FFF2-40B4-BE49-F238E27FC236}">
                <a16:creationId xmlns:a16="http://schemas.microsoft.com/office/drawing/2014/main" id="{2E56C469-FC89-4B3E-AE58-8B7CFBBC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4288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E473918-0F66-4019-A1F0-BDAB1985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n8n decision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6EEFAC4-165C-4765-8FCB-FAC56149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0985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to</a:t>
            </a:r>
          </a:p>
        </p:txBody>
      </p:sp>
      <p:sp>
        <p:nvSpPr>
          <p:cNvPr id="6" name="box">
            <a:extLst xmlns:a="http://schemas.openxmlformats.org/drawingml/2006/main">
              <a:ext uri="{FF2B5EF4-FFF2-40B4-BE49-F238E27FC236}">
                <a16:creationId xmlns:a16="http://schemas.microsoft.com/office/drawing/2014/main" id="{D23E42B3-521A-4C64-8759-4AC75969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0030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4288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4A08499-988F-4D64-A6C8-31D1BC7A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Python middleware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5B33C56-0996-491F-A19E-CCB92C3F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09850"/>
            <a:ext cx="533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to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783E8591-F91D-43A4-A84F-9450F00A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00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4288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1F65CD0-1438-4BFC-9B38-8F67259E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262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simulated fan state</a:t>
            </a:r>
          </a:p>
        </p:txBody>
      </p:sp>
      <p:sp>
        <p:nvSpPr>
          <p:cNvPr id="11" name="box">
            <a:extLst xmlns:a="http://schemas.openxmlformats.org/drawingml/2006/main">
              <a:ext uri="{FF2B5EF4-FFF2-40B4-BE49-F238E27FC236}">
                <a16:creationId xmlns:a16="http://schemas.microsoft.com/office/drawing/2014/main" id="{636E93E1-D73F-47C8-BC14-95C6F425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31432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13335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3BD1DDA-BF43-4B45-A4CF-18A07E08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4810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Endpoints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01FEEA8-8ADF-4772-A51E-1028A71C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8625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POST /fan/on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POST /fan/off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11111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GET /status</a:t>
            </a:r>
          </a:p>
        </p:txBody>
      </p:sp>
      <p:sp>
        <p:nvSpPr>
          <p:cNvPr id="14" name="box">
            <a:extLst xmlns:a="http://schemas.openxmlformats.org/drawingml/2006/main">
              <a:ext uri="{FF2B5EF4-FFF2-40B4-BE49-F238E27FC236}">
                <a16:creationId xmlns:a16="http://schemas.microsoft.com/office/drawing/2014/main" id="{06E3182A-27C0-46AA-9F22-EB3FDA04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29000"/>
            <a:ext cx="62293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Bildobjekt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d3323f9894b0b"/>
          <a:stretch xmlns:a="http://schemas.openxmlformats.org/drawingml/2006/main"/>
        </p:blipFill>
        <p:spPr>
          <a:xfrm xmlns:a="http://schemas.openxmlformats.org/drawingml/2006/main">
            <a:off x="5947985" y="3562350"/>
            <a:ext cx="2982080" cy="1676400"/>
          </a:xfrm>
          <a:prstGeom xmlns:a="http://schemas.openxmlformats.org/drawingml/2006/main" prst="rect">
            <a:avLst/>
          </a:prstGeom>
        </p:spPr>
      </p:pic>
      <p:sp>
        <p:nvSpPr>
          <p:cNvPr id="16" name="box">
            <a:extLst xmlns:a="http://schemas.openxmlformats.org/drawingml/2006/main">
              <a:ext uri="{FF2B5EF4-FFF2-40B4-BE49-F238E27FC236}">
                <a16:creationId xmlns:a16="http://schemas.microsoft.com/office/drawing/2014/main" id="{233621CE-781F-4897-8D9E-21BBA190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10458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383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3F6D76F-0368-46EE-B7BF-5B5FF32F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00"/>
            <a:ext cx="990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Python middleware does not decide the temperature rule. n8n decides the action before calling the middleware.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442BBCC-74FE-4235-87F6-8DA67A42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48400"/>
            <a:ext cx="1057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n8n decides. Python handles the action. GET /status shows the result.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92DE2A0-497A-4E59-9A8E-5269976C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Contracts and safety design</a:t>
            </a:r>
          </a:p>
        </p:txBody>
      </p:sp>
      <p:sp>
        <p:nvSpPr>
          <p:cNvPr id="2" name="box">
            <a:extLst xmlns:a="http://schemas.openxmlformats.org/drawingml/2006/main">
              <a:ext uri="{FF2B5EF4-FFF2-40B4-BE49-F238E27FC236}">
                <a16:creationId xmlns:a16="http://schemas.microsoft.com/office/drawing/2014/main" id="{07FEBEF9-6A53-46BD-9F53-43905802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2952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333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7C6A905-54A4-4B68-9C81-60254ECE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3835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Shared contracts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D579BA0-19A8-4362-AEC7-9AA5F259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expected message format</a:t>
            </a:r>
          </a:p>
        </p:txBody>
      </p:sp>
      <p:sp>
        <p:nvSpPr>
          <p:cNvPr id="5" name="box">
            <a:extLst xmlns:a="http://schemas.openxmlformats.org/drawingml/2006/main">
              <a:ext uri="{FF2B5EF4-FFF2-40B4-BE49-F238E27FC236}">
                <a16:creationId xmlns:a16="http://schemas.microsoft.com/office/drawing/2014/main" id="{F47A1931-3E54-49F6-8536-AE05EC5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85950"/>
            <a:ext cx="2952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333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93F1D7B-0CAC-438B-B07A-78E66DE6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Safety layer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8AB1C2F-D34C-46D1-9544-5C0C528E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0030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documented allowed / blocked cases</a:t>
            </a:r>
          </a:p>
        </p:txBody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A2C7AEC4-7800-4EFF-B89E-DDBCC4C8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85950"/>
            <a:ext cx="2952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333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317188E-D3E0-4BBD-8A13-735A88E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38350"/>
            <a:ext cx="2647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C7DD7B2-36CE-4935-B6DD-83618B5C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0030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narrow fan_on / fan_off surface</a:t>
            </a:r>
          </a:p>
        </p:txBody>
      </p:sp>
      <p:sp>
        <p:nvSpPr>
          <p:cNvPr id="11" name="box">
            <a:extLst xmlns:a="http://schemas.openxmlformats.org/drawingml/2006/main">
              <a:ext uri="{FF2B5EF4-FFF2-40B4-BE49-F238E27FC236}">
                <a16:creationId xmlns:a16="http://schemas.microsoft.com/office/drawing/2014/main" id="{0303ADFF-BCED-457C-B597-F77DF806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106108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7" name="Bildobjekt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b926153294694"/>
          <a:stretch xmlns:a="http://schemas.openxmlformats.org/drawingml/2006/main"/>
        </p:blipFill>
        <p:spPr>
          <a:xfrm xmlns:a="http://schemas.openxmlformats.org/drawingml/2006/main">
            <a:off x="2436645" y="3257550"/>
            <a:ext cx="7299660" cy="2266950"/>
          </a:xfrm>
          <a:prstGeom xmlns:a="http://schemas.openxmlformats.org/drawingml/2006/main" prst="rect">
            <a:avLst/>
          </a:prstGeom>
        </p:spPr>
      </p:pic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2DB7F19-E1A7-4B9C-B1BC-9FDA6D3E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53100"/>
            <a:ext cx="1057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This is documented validation design, not full runtime enforcement.</a:t>
            </a:r>
          </a:p>
        </p:txBody>
      </p:sp>
      <p:sp>
        <p:nvSpPr>
          <p:cNvPr id="14" name="box">
            <a:extLst xmlns:a="http://schemas.openxmlformats.org/drawingml/2006/main">
              <a:ext uri="{FF2B5EF4-FFF2-40B4-BE49-F238E27FC236}">
                <a16:creationId xmlns:a16="http://schemas.microsoft.com/office/drawing/2014/main" id="{6FDA1067-3A9F-4A66-A9C1-DC06992F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458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383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55E9B84-BB62-4034-8C3D-BACDEEB4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91250"/>
            <a:ext cx="990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Full runtime schema validation and HITL approval were left as future work.</a:t>
            </a:r>
          </a:p>
        </p:txBody>
      </p:sp>
      <p:pic>
        <p:nvPicPr>
          <p:cNvPr id="31" name="Bildobjekt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39a68c02b45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464378"/>
            <a:ext cx="2684857" cy="17417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FD25C567-6410-4E03-9A5F-A45E5F97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Evaluation setup</a:t>
            </a:r>
          </a:p>
        </p:txBody>
      </p:sp>
      <p:sp>
        <p:nvSpPr>
          <p:cNvPr id="2" name="box">
            <a:extLst xmlns:a="http://schemas.openxmlformats.org/drawingml/2006/main">
              <a:ext uri="{FF2B5EF4-FFF2-40B4-BE49-F238E27FC236}">
                <a16:creationId xmlns:a16="http://schemas.microsoft.com/office/drawing/2014/main" id="{C6066E97-552A-492C-BA8E-2D93788D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95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3335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38296FA-F3C1-4E80-84D8-A3FDF9D6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85950"/>
            <a:ext cx="4457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Proof-of-concept evidence,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not a broad benchmark.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4A63ADC-1F76-4779-8116-320BD89E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Checks expected behavior in controlled cases.</a:t>
            </a:r>
          </a:p>
        </p:txBody>
      </p:sp>
      <p:sp>
        <p:nvSpPr>
          <p:cNvPr id="5" name="box">
            <a:extLst xmlns:a="http://schemas.openxmlformats.org/drawingml/2006/main">
              <a:ext uri="{FF2B5EF4-FFF2-40B4-BE49-F238E27FC236}">
                <a16:creationId xmlns:a16="http://schemas.microsoft.com/office/drawing/2014/main" id="{3457AECD-D70E-4EF1-9084-FDBCCF62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30B782F-6751-484C-8196-7B3A6867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Controlled test cases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4E4D82E-33C6-43FC-A1C9-391E33E3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31.4 C -&gt; expected fan_on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3CC6A9-EBD2-4AB4-B22D-685DE0AE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24.5 C -&gt; expected fan_off</a:t>
            </a:r>
          </a:p>
        </p:txBody>
      </p:sp>
      <p:pic>
        <p:nvPicPr>
          <p:cNvPr id="27" name="Bildobjekt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9a29319f6442c"/>
          <a:stretch xmlns:a="http://schemas.openxmlformats.org/drawingml/2006/main"/>
        </p:blipFill>
        <p:spPr>
          <a:xfrm xmlns:a="http://schemas.openxmlformats.org/drawingml/2006/main">
            <a:off x="1076923" y="4267200"/>
            <a:ext cx="4151704" cy="1028700"/>
          </a:xfrm>
          <a:prstGeom xmlns:a="http://schemas.openxmlformats.org/drawingml/2006/main" prst="rect">
            <a:avLst/>
          </a:prstGeom>
        </p:spPr>
      </p:pic>
      <p:sp>
        <p:nvSpPr>
          <p:cNvPr id="10" name="box">
            <a:extLst xmlns:a="http://schemas.openxmlformats.org/drawingml/2006/main">
              <a:ext uri="{FF2B5EF4-FFF2-40B4-BE49-F238E27FC236}">
                <a16:creationId xmlns:a16="http://schemas.microsoft.com/office/drawing/2014/main" id="{C06D2DE6-0457-4CB9-A1A9-334F6D40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05100"/>
            <a:ext cx="476250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BFA5133-A75F-472D-9E21-072EC257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Evidence recorded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1C96B4B-B70D-4C3F-A08B-BDE06CA2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- selected action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2938EFD-E8B3-487F-B8FB-20ABFEB4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- success / failure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257A8BC-FEF9-4936-AA38-5A2EB91A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- latency observations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D1F0061-D007-4645-B01F-6605BEC1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5770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- resource observations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268B164-A28E-43BD-842D-FBB0F2A1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The evaluation checks whether the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workflow-to-action chain behaves as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0065B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5BD"/>
                </a:solidFill>
                <a:latin typeface="Arial"/>
                <a:ea typeface="Arial"/>
                <a:cs typeface="Arial"/>
              </a:rPr>
              <a:t>expected.</a:t>
            </a:r>
          </a:p>
        </p:txBody>
      </p:sp>
      <p:sp>
        <p:nvSpPr>
          <p:cNvPr id="17" name="box">
            <a:extLst xmlns:a="http://schemas.openxmlformats.org/drawingml/2006/main">
              <a:ext uri="{FF2B5EF4-FFF2-40B4-BE49-F238E27FC236}">
                <a16:creationId xmlns:a16="http://schemas.microsoft.com/office/drawing/2014/main" id="{942D95A7-1581-4DFB-8166-2A0CEFA3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0458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383">
            <a:solidFill>
              <a:srgbClr val="0065B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DE94777-A95C-4A02-8BD2-962E134C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019800"/>
            <a:ext cx="990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goal is measurable proof-of-concept evidence.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68599DF-D040-4CC5-B61E-42ABB744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685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rPr>
              <a:t>Local results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E29C6FF-0098-485F-80E1-BF1E1C06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733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52400" tIns="76200" rIns="152400" bIns="7620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Both local workflow paths produced the expected action.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agent-enhanced path had higher latency observations.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9468A7F-FAC1-45EF-8031-4206DB65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526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txBody>
          <a:bodyPr xmlns:a="http://schemas.openxmlformats.org/drawingml/2006/main" lIns="114300" tIns="66675" rIns="1143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Latency observations,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not a statistical benchmark.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5BBCAEA-EA7A-4734-AE12-B5FB15C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0325"/>
            <a:ext cx="251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High temperature -&gt; fan_on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4EFA6A7-3DB2-41E9-936F-BC10877B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00325"/>
            <a:ext cx="2438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Low temperature -&gt; fan_off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43B55CC-F794-4F14-AB68-6A40F891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003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Structured action output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9F48920-66E3-49C3-91BC-1FEC957B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00325"/>
            <a:ext cx="2609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47625" rIns="76200" bIns="47625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Higher agent latency</a:t>
            </a:r>
          </a:p>
        </p:txBody>
      </p:sp>
      <p:pic>
        <p:nvPicPr>
          <p:cNvPr id="17" name="Bildobjekt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8b2a0ecb74762"/>
          <a:stretch xmlns:a="http://schemas.openxmlformats.org/drawingml/2006/main"/>
        </p:blipFill>
        <p:spPr>
          <a:xfrm xmlns:a="http://schemas.openxmlformats.org/drawingml/2006/main">
            <a:off x="914400" y="3182218"/>
            <a:ext cx="10363200" cy="3131989"/>
          </a:xfrm>
          <a:prstGeom xmlns:a="http://schemas.openxmlformats.org/drawingml/2006/main" prst="rect">
            <a:avLst/>
          </a:prstGeom>
        </p:spPr>
      </p:pic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E778168-116F-4026-B66B-F2BE46E9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4584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66675" rIns="17145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 workflow-to-action chain worked and produced recorded evidence.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E64326B-0BC4-440D-8EAA-FA0F7859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rPr>
              <a:t>Raspberry Pi validation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A4B1E3D-464F-4DEB-8ABD-AF0A4C13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95250" tIns="76200" rIns="95250" bIns="7620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PC-hosted n8n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stayed on PC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6EB39D2-2264-4FCC-814D-9E77ACCD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90700"/>
            <a:ext cx="2514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95250" tIns="76200" rIns="95250" bIns="7620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Network call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HTTP action request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9780FDD7-C5B7-4A87-A850-418E7DBF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90700"/>
            <a:ext cx="2971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95250" tIns="76200" rIns="95250" bIns="7620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Raspberry Pi middleware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 action endpoint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D84F99-7AC6-498F-9CDF-27B4B8A0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952625"/>
            <a:ext cx="723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B9A1DC6-1671-49DC-BBD9-5F486A05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952625"/>
            <a:ext cx="723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8F98281-4938-4F5A-8495-5936B778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10439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52400" tIns="66675" rIns="1524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This validates the action endpoint on separate hardware, not full n8n-on-Pi deployment.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33CC7B0-9642-478C-8DAD-0011945C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Pi validation results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45EEC3F-FE79-4273-A5EC-7D364667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33750"/>
            <a:ext cx="4533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7415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74151"/>
                </a:solidFill>
                <a:latin typeface="Aptos"/>
                <a:ea typeface="Aptos"/>
                <a:cs typeface="Aptos"/>
              </a:rPr>
              <a:t>single-run proof-of-concept observations</a:t>
            </a:r>
          </a:p>
        </p:txBody>
      </p:sp>
      <p:pic>
        <p:nvPicPr>
          <p:cNvPr id="22" name="Bildobjekt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a944ebee3424d"/>
          <a:stretch xmlns:a="http://schemas.openxmlformats.org/drawingml/2006/main"/>
        </p:blipFill>
        <p:spPr>
          <a:xfrm xmlns:a="http://schemas.openxmlformats.org/drawingml/2006/main">
            <a:off x="914400" y="3696758"/>
            <a:ext cx="10363200" cy="2302933"/>
          </a:xfrm>
          <a:prstGeom xmlns:a="http://schemas.openxmlformats.org/drawingml/2006/main" prst="rect">
            <a:avLst/>
          </a:prstGeom>
        </p:spPr>
      </p:pic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A7EB783-D3F6-4BA1-94FB-F02FF45C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86450"/>
            <a:ext cx="1043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31.4 C -&gt; fan_on     24.5 C -&gt; fan_off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6D48118-AC52-447E-B9A9-CDF5325B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72200"/>
            <a:ext cx="10439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57150" rIns="171450" bIns="5715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Separate-hardware action endpoint validation, not full n8n-on-Pi deployment.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10036ccc24f4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1D73555-78A8-4BF6-949B-B24CEC48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rPr>
              <a:t>Societal contribution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A3AE983-7C69-4DA7-98D0-3359A2B4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0439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57150" rIns="171450" bIns="5715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fan is a controlled proxy.  The real value is the event -&gt; validation -&gt; action pattern.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16E1F0B-B9DF-44ED-A342-5356A572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439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Responsible automation needs boundaries and evidence.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EF31D6E-7CFE-474D-8058-7BF9F60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66675" rIns="762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Event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input signal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6FECEAD-98E9-4475-8678-0F30E804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76550"/>
            <a:ext cx="36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1B07960-BD7A-4F2D-8BB1-53543E9D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66675" rIns="762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decision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chosen action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A89A7BD-1E03-48B5-983F-56A063B7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36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4E7865C-FCB0-442D-8ECE-CAFD2FAE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8130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66675" rIns="762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Validation boundary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contract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0BFB999-3AFC-41A1-9159-E728BB84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36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D6A4E97-9EB2-4AB0-8F04-9DD44183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8130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66675" rIns="762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Middleware action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endpoint call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A7FC065-7EC0-4812-A080-CA6B29FE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36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399EB98-B84D-4FAE-89CB-65E92BE2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6E0EC"/>
            </a:solidFill>
            <a:prstDash val="solid"/>
          </a:ln>
        </p:spPr>
        <p:txBody>
          <a:bodyPr xmlns:a="http://schemas.openxmlformats.org/drawingml/2006/main" lIns="76200" tIns="66675" rIns="76200" bIns="66675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Recorded 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result trace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E141579-ADF6-471B-BB73-12AF568B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Broader relevance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3D8998-BBFF-4482-84A8-A1ED7709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2457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4C184B-BE30-49A4-999C-06EC4843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2457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6772F79-4E48-4B4F-B1CE-9318AD0E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005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Smart buildings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CDD0603-4F8D-41C1-BED7-B2654AB5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ventilation, heating, lighting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71828B-E14D-4879-BE9E-902BE39B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2457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5237D-0D5B-47AC-A71E-281A6204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2457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BD3322DB-13D5-4829-9A25-A7AA7D64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005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Industrial monitoring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641AA5D-2E85-44A0-9689-3917A0B9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767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alerts and controlled responses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569DF8-97A7-47E5-BC05-F26A8120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67150"/>
            <a:ext cx="2457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DB4C42-5442-43F6-873B-293D1061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67150"/>
            <a:ext cx="2457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21C5CB8-27AB-4D50-A91C-2D6E0479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Environmental sensing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ED59CE7-299F-4DF0-AD51-666940FC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767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air quality, humidity, water level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D954CD-F7D1-4458-A82B-A3FD0BE6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67150"/>
            <a:ext cx="2457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1A71FF-AEA1-4E2C-A9F1-66DAC0FE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67150"/>
            <a:ext cx="2457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F765E5A4-62C3-4524-8A9A-564C60D6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005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Health / environment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E5B9147F-DD85-4F9B-89B7-27374235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767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traceable notifications, approved actions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939D3C8C-AD32-4FAF-B0E5-79405EAC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439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6E0EC"/>
            </a:solidFill>
            <a:prstDash val="solid"/>
          </a:ln>
        </p:spPr>
        <p:txBody>
          <a:bodyPr xmlns:a="http://schemas.openxmlformats.org/drawingml/2006/main" lIns="171450" tIns="57150" rIns="171450" bIns="57150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Possible future use cases, not operational deployment.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AFF98268-BB0A-430D-847D-596BB0CC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10439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383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76200" rIns="171450" bIns="76200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exciting part is not the fan.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It is the responsible structure around future event-driven systems.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BD1F33D-53C7-430A-B647-25D72D08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723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065BD"/>
                </a:solidFill>
                <a:latin typeface="Aptos Display"/>
                <a:ea typeface="Aptos Display"/>
                <a:cs typeface="Aptos Display"/>
              </a:rPr>
              <a:t>Conclusion and limitations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8119D07-5A87-44E0-BA3A-A03924A2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0439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1430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57150" rIns="171450" bIns="5715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complete workflow-to-action proof of concept was built and evaluated.</a:t>
            </a:r>
          </a:p>
        </p:txBody>
      </p:sp>
      <p:sp>
        <p:nvSpPr>
          <p:cNvPr id="3" name="slide-16-rq-panel-bg">
            <a:extLst xmlns:a="http://schemas.openxmlformats.org/drawingml/2006/main">
              <a:ext uri="{FF2B5EF4-FFF2-40B4-BE49-F238E27FC236}">
                <a16:creationId xmlns:a16="http://schemas.microsoft.com/office/drawing/2014/main" id="{5FE0558B-71DA-4BA4-A497-DA090135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439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0478">
            <a:solidFill>
              <a:srgbClr val="D6E0EC"/>
            </a:solidFill>
            <a:prstDash val="solid"/>
          </a:ln>
        </p:spPr>
      </p:sp>
      <p:sp>
        <p:nvSpPr>
          <p:cNvPr id="4" name="slide-16-rq-panel-accent">
            <a:extLst xmlns:a="http://schemas.openxmlformats.org/drawingml/2006/main">
              <a:ext uri="{FF2B5EF4-FFF2-40B4-BE49-F238E27FC236}">
                <a16:creationId xmlns:a16="http://schemas.microsoft.com/office/drawing/2014/main" id="{128030D9-7CFA-4EF9-B8AC-0C79AD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439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5" name="slide-16-rq-body">
            <a:extLst xmlns:a="http://schemas.openxmlformats.org/drawingml/2006/main">
              <a:ext uri="{FF2B5EF4-FFF2-40B4-BE49-F238E27FC236}">
                <a16:creationId xmlns:a16="http://schemas.microsoft.com/office/drawing/2014/main" id="{65BA31ED-8BDB-4707-8FA9-A6EF35E8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76500"/>
            <a:ext cx="9982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5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5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RQ1: How accurately does the deterministic workflow produce expected fan actions?</a:t>
            </a:r>
          </a:p>
          <a:p xmlns:a="http://schemas.openxmlformats.org/drawingml/2006/main">
            <a:pPr algn="l">
              <a:defRPr sz="115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5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RQ2: How accurately does the agent-enhanced workflow produce contract-valid action output?</a:t>
            </a:r>
          </a:p>
          <a:p xmlns:a="http://schemas.openxmlformats.org/drawingml/2006/main">
            <a:pPr algn="l">
              <a:defRPr sz="115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5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RQ3: What latency, resource, and deployment behavior is observed locally and in Pi middleware validation?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184CBC-E086-42CF-A1D4-F4393E9A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49911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10478">
            <a:solidFill>
              <a:srgbClr val="D6E0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5E93B-EDEA-45D7-90C4-44039BD7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4991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1492CE7-EF22-4F2E-8BB5-57B6EB5B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48050"/>
            <a:ext cx="4533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What was shown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3501333-9AC7-4711-BAF2-B827F0FB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90950"/>
            <a:ext cx="44577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n8n selected actions from temperature input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deterministic and agent paths produced expected actions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middleware handled the simulated fan action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Raspberry Pi validation showed separate-hardware action endpoint behavior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evidence was recorded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FFA92-2C04-4390-8631-3F8A0407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95650"/>
            <a:ext cx="49911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6E0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8A8406-A1DC-4EBB-86BC-007E8493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95650"/>
            <a:ext cx="49911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5BD"/>
          </a:solidFill>
          <a:ln xmlns:a="http://schemas.openxmlformats.org/drawingml/2006/main" w="0">
            <a:solidFill>
              <a:srgbClr val="0065BD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81FC1EF-8A6B-4D36-9427-C4E91C06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48050"/>
            <a:ext cx="4533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65B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065BD"/>
                </a:solidFill>
                <a:latin typeface="Aptos"/>
                <a:ea typeface="Aptos"/>
                <a:cs typeface="Aptos"/>
              </a:rPr>
              <a:t>Limitations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D602B3B-2EDF-4242-97E3-5E1536C3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381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simulated fan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small number of test cases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single-run latency observations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safety layer mainly documented design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- full runtime schema validation and HITL approval remain future work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1B764D7-7731-4ADC-ACA1-CA0DD08D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383">
            <a:solidFill>
              <a:srgbClr val="0065BD"/>
            </a:solidFill>
            <a:prstDash val="solid"/>
          </a:ln>
        </p:spPr>
        <p:txBody>
          <a:bodyPr xmlns:a="http://schemas.openxmlformats.org/drawingml/2006/main" lIns="171450" tIns="66675" rIns="171450" bIns="66675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contribution is the measured structure around the fan action, not the fan itself.</a:t>
            </a:r>
          </a:p>
        </p:txBody>
      </p:sp>
    </p:spTree>
    <p:extLst>
      <p:ext uri="{BB962C8B-B14F-4D97-AF65-F5344CB8AC3E}">
        <p14:creationId xmlns:p14="http://schemas.microsoft.com/office/powerpoint/2010/main" val="2166300922"/>
      </p:ext>
    </p:extLst>
  </p:cSld>
</p:sld>
</file>

<file path=ppt/theme/theme1.xml><?xml version="1.0" encoding="utf-8"?>
<a:theme xmlns:a="http://schemas.openxmlformats.org/drawingml/2006/main" name="Office-tema">
  <a:themeElements>
    <a:clrScheme name="Mittuniversitetet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CB9"/>
      </a:accent1>
      <a:accent2>
        <a:srgbClr val="00BFD6"/>
      </a:accent2>
      <a:accent3>
        <a:srgbClr val="007934"/>
      </a:accent3>
      <a:accent4>
        <a:srgbClr val="3FAE2A"/>
      </a:accent4>
      <a:accent5>
        <a:srgbClr val="706259"/>
      </a:accent5>
      <a:accent6>
        <a:srgbClr val="AEA299"/>
      </a:accent6>
      <a:hlink>
        <a:srgbClr val="0563C1"/>
      </a:hlink>
      <a:folHlink>
        <a:srgbClr val="954F72"/>
      </a:folHlink>
    </a:clrScheme>
    <a:fontScheme name="PP Mittuniversitet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ittuniversitete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2026-06-09T12:04:47.6740000Z</dcterms:created>
  <dcterms:modified xsi:type="dcterms:W3CDTF">2026-06-09T12:04:47.6740000Z</dcterms:modified>
</coreProperties>
</file>